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81" r:id="rId2"/>
  </p:sldIdLst>
  <p:sldSz cx="15544800" cy="10058400"/>
  <p:notesSz cx="9601200" cy="15087600"/>
  <p:defaultTextStyle>
    <a:defPPr>
      <a:defRPr lang="en-US"/>
    </a:defPPr>
    <a:lvl1pPr algn="l" rtl="0" fontAlgn="base">
      <a:spcBef>
        <a:spcPct val="0"/>
      </a:spcBef>
      <a:spcAft>
        <a:spcPct val="0"/>
      </a:spcAft>
      <a:defRPr sz="29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2900"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2900"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2900"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29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9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9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9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9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3120" userDrawn="1">
          <p15:clr>
            <a:srgbClr val="A4A3A4"/>
          </p15:clr>
        </p15:guide>
        <p15:guide id="2" pos="1872" userDrawn="1">
          <p15:clr>
            <a:srgbClr val="A4A3A4"/>
          </p15:clr>
        </p15:guide>
        <p15:guide id="3" orient="horz" pos="1392" userDrawn="1">
          <p15:clr>
            <a:srgbClr val="A4A3A4"/>
          </p15:clr>
        </p15:guide>
        <p15:guide id="4" orient="horz" pos="5136" userDrawn="1">
          <p15:clr>
            <a:srgbClr val="A4A3A4"/>
          </p15:clr>
        </p15:guide>
        <p15:guide id="5" pos="4608" userDrawn="1">
          <p15:clr>
            <a:srgbClr val="A4A3A4"/>
          </p15:clr>
        </p15:guide>
        <p15:guide id="6" pos="7392" userDrawn="1">
          <p15:clr>
            <a:srgbClr val="A4A3A4"/>
          </p15:clr>
        </p15:guide>
      </p15:sldGuideLst>
    </p:ext>
    <p:ext uri="{2D200454-40CA-4A62-9FC3-DE9A4176ACB9}">
      <p15:notesGuideLst xmlns:p15="http://schemas.microsoft.com/office/powerpoint/2012/main">
        <p15:guide id="1" orient="horz" pos="4752">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800080"/>
    <a:srgbClr val="FF6600"/>
    <a:srgbClr val="394C88"/>
    <a:srgbClr val="FF6666"/>
    <a:srgbClr val="FBBF85"/>
    <a:srgbClr val="F75200"/>
    <a:srgbClr val="F87F2D"/>
    <a:srgbClr val="77A08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682"/>
  </p:normalViewPr>
  <p:slideViewPr>
    <p:cSldViewPr snapToObjects="1" showGuides="1">
      <p:cViewPr varScale="1">
        <p:scale>
          <a:sx n="53" d="100"/>
          <a:sy n="53" d="100"/>
        </p:scale>
        <p:origin x="1704" y="77"/>
      </p:cViewPr>
      <p:guideLst>
        <p:guide orient="horz" pos="3120"/>
        <p:guide pos="1872"/>
        <p:guide orient="horz" pos="1392"/>
        <p:guide orient="horz" pos="5136"/>
        <p:guide pos="4608"/>
        <p:guide pos="7392"/>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48" d="100"/>
          <a:sy n="48" d="100"/>
        </p:scale>
        <p:origin x="-3560" y="-144"/>
      </p:cViewPr>
      <p:guideLst>
        <p:guide orient="horz" pos="4752"/>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838" cy="754063"/>
          </a:xfrm>
          <a:prstGeom prst="rect">
            <a:avLst/>
          </a:prstGeom>
        </p:spPr>
        <p:txBody>
          <a:bodyPr vert="horz" wrap="square" lIns="133448" tIns="66724" rIns="133448" bIns="66724" numCol="1" anchor="t" anchorCtr="0" compatLnSpc="1">
            <a:prstTxWarp prst="textNoShape">
              <a:avLst/>
            </a:prstTxWarp>
          </a:bodyPr>
          <a:lstStyle>
            <a:lvl1pPr>
              <a:defRPr sz="1800">
                <a:latin typeface="Arial" pitchFamily="-111" charset="0"/>
                <a:ea typeface="+mn-ea"/>
                <a:cs typeface="+mn-cs"/>
              </a:defRPr>
            </a:lvl1pPr>
          </a:lstStyle>
          <a:p>
            <a:pPr>
              <a:defRPr/>
            </a:pPr>
            <a:endParaRPr lang="en-US"/>
          </a:p>
        </p:txBody>
      </p:sp>
      <p:sp>
        <p:nvSpPr>
          <p:cNvPr id="3" name="Date Placeholder 2"/>
          <p:cNvSpPr>
            <a:spLocks noGrp="1"/>
          </p:cNvSpPr>
          <p:nvPr>
            <p:ph type="dt" sz="quarter" idx="1"/>
          </p:nvPr>
        </p:nvSpPr>
        <p:spPr>
          <a:xfrm>
            <a:off x="5438775" y="0"/>
            <a:ext cx="4160838" cy="754063"/>
          </a:xfrm>
          <a:prstGeom prst="rect">
            <a:avLst/>
          </a:prstGeom>
        </p:spPr>
        <p:txBody>
          <a:bodyPr vert="horz" wrap="square" lIns="133448" tIns="66724" rIns="133448" bIns="66724" numCol="1" anchor="t" anchorCtr="0" compatLnSpc="1">
            <a:prstTxWarp prst="textNoShape">
              <a:avLst/>
            </a:prstTxWarp>
          </a:bodyPr>
          <a:lstStyle>
            <a:lvl1pPr algn="r">
              <a:defRPr sz="1800"/>
            </a:lvl1pPr>
          </a:lstStyle>
          <a:p>
            <a:pPr>
              <a:defRPr/>
            </a:pPr>
            <a:fld id="{BEF62087-7C23-DC41-B342-1D91C88102BC}" type="datetime1">
              <a:rPr lang="en-US"/>
              <a:pPr>
                <a:defRPr/>
              </a:pPr>
              <a:t>10/8/2026</a:t>
            </a:fld>
            <a:endParaRPr lang="en-US"/>
          </a:p>
        </p:txBody>
      </p:sp>
      <p:sp>
        <p:nvSpPr>
          <p:cNvPr id="4" name="Footer Placeholder 3"/>
          <p:cNvSpPr>
            <a:spLocks noGrp="1"/>
          </p:cNvSpPr>
          <p:nvPr>
            <p:ph type="ftr" sz="quarter" idx="2"/>
          </p:nvPr>
        </p:nvSpPr>
        <p:spPr>
          <a:xfrm>
            <a:off x="0" y="14331950"/>
            <a:ext cx="4160838" cy="752475"/>
          </a:xfrm>
          <a:prstGeom prst="rect">
            <a:avLst/>
          </a:prstGeom>
        </p:spPr>
        <p:txBody>
          <a:bodyPr vert="horz" wrap="square" lIns="133448" tIns="66724" rIns="133448" bIns="66724" numCol="1" anchor="b" anchorCtr="0" compatLnSpc="1">
            <a:prstTxWarp prst="textNoShape">
              <a:avLst/>
            </a:prstTxWarp>
          </a:bodyPr>
          <a:lstStyle>
            <a:lvl1pPr>
              <a:defRPr sz="1800">
                <a:latin typeface="Arial" pitchFamily="-111"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5438775" y="14331950"/>
            <a:ext cx="4160838" cy="752475"/>
          </a:xfrm>
          <a:prstGeom prst="rect">
            <a:avLst/>
          </a:prstGeom>
        </p:spPr>
        <p:txBody>
          <a:bodyPr vert="horz" wrap="square" lIns="133448" tIns="66724" rIns="133448" bIns="66724" numCol="1" anchor="b" anchorCtr="0" compatLnSpc="1">
            <a:prstTxWarp prst="textNoShape">
              <a:avLst/>
            </a:prstTxWarp>
          </a:bodyPr>
          <a:lstStyle>
            <a:lvl1pPr algn="r">
              <a:defRPr sz="1800"/>
            </a:lvl1pPr>
          </a:lstStyle>
          <a:p>
            <a:pPr>
              <a:defRPr/>
            </a:pPr>
            <a:fld id="{96A0A922-1324-F24F-B26C-E6A73BEAD849}" type="slidenum">
              <a:rPr lang="en-US"/>
              <a:pPr>
                <a:defRPr/>
              </a:pPr>
              <a:t>‹Nº›</a:t>
            </a:fld>
            <a:endParaRPr lang="en-US"/>
          </a:p>
        </p:txBody>
      </p:sp>
    </p:spTree>
    <p:extLst>
      <p:ext uri="{BB962C8B-B14F-4D97-AF65-F5344CB8AC3E}">
        <p14:creationId xmlns:p14="http://schemas.microsoft.com/office/powerpoint/2010/main" val="3077488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160838" cy="754063"/>
          </a:xfrm>
          <a:prstGeom prst="rect">
            <a:avLst/>
          </a:prstGeom>
          <a:noFill/>
          <a:ln w="9525">
            <a:noFill/>
            <a:miter lim="800000"/>
            <a:headEnd/>
            <a:tailEnd/>
          </a:ln>
          <a:effectLst/>
        </p:spPr>
        <p:txBody>
          <a:bodyPr vert="horz" wrap="square" lIns="141067" tIns="70534" rIns="141067" bIns="70534" numCol="1" anchor="t" anchorCtr="0" compatLnSpc="1">
            <a:prstTxWarp prst="textNoShape">
              <a:avLst/>
            </a:prstTxWarp>
          </a:bodyPr>
          <a:lstStyle>
            <a:lvl1pPr defTabSz="1409700">
              <a:defRPr sz="1900">
                <a:latin typeface="Arial" pitchFamily="-111" charset="0"/>
                <a:ea typeface="+mn-ea"/>
                <a:cs typeface="+mn-cs"/>
              </a:defRPr>
            </a:lvl1pPr>
          </a:lstStyle>
          <a:p>
            <a:pPr>
              <a:defRPr/>
            </a:pPr>
            <a:endParaRPr lang="en-US"/>
          </a:p>
        </p:txBody>
      </p:sp>
      <p:sp>
        <p:nvSpPr>
          <p:cNvPr id="3075" name="Rectangle 3"/>
          <p:cNvSpPr>
            <a:spLocks noGrp="1" noChangeArrowheads="1"/>
          </p:cNvSpPr>
          <p:nvPr>
            <p:ph type="dt" idx="1"/>
          </p:nvPr>
        </p:nvSpPr>
        <p:spPr bwMode="auto">
          <a:xfrm>
            <a:off x="5438775" y="0"/>
            <a:ext cx="4160838" cy="754063"/>
          </a:xfrm>
          <a:prstGeom prst="rect">
            <a:avLst/>
          </a:prstGeom>
          <a:noFill/>
          <a:ln w="9525">
            <a:noFill/>
            <a:miter lim="800000"/>
            <a:headEnd/>
            <a:tailEnd/>
          </a:ln>
          <a:effectLst/>
        </p:spPr>
        <p:txBody>
          <a:bodyPr vert="horz" wrap="square" lIns="141067" tIns="70534" rIns="141067" bIns="70534" numCol="1" anchor="t" anchorCtr="0" compatLnSpc="1">
            <a:prstTxWarp prst="textNoShape">
              <a:avLst/>
            </a:prstTxWarp>
          </a:bodyPr>
          <a:lstStyle>
            <a:lvl1pPr algn="r" defTabSz="1409700">
              <a:defRPr sz="1900">
                <a:latin typeface="Arial" pitchFamily="-111" charset="0"/>
                <a:ea typeface="+mn-ea"/>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428625" y="1131888"/>
            <a:ext cx="8742363" cy="5657850"/>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3077" name="Rectangle 5"/>
          <p:cNvSpPr>
            <a:spLocks noGrp="1" noChangeArrowheads="1"/>
          </p:cNvSpPr>
          <p:nvPr>
            <p:ph type="body" sz="quarter" idx="3"/>
          </p:nvPr>
        </p:nvSpPr>
        <p:spPr bwMode="auto">
          <a:xfrm>
            <a:off x="960438" y="7167563"/>
            <a:ext cx="7680325" cy="6788150"/>
          </a:xfrm>
          <a:prstGeom prst="rect">
            <a:avLst/>
          </a:prstGeom>
          <a:noFill/>
          <a:ln w="9525">
            <a:noFill/>
            <a:miter lim="800000"/>
            <a:headEnd/>
            <a:tailEnd/>
          </a:ln>
          <a:effectLst/>
        </p:spPr>
        <p:txBody>
          <a:bodyPr vert="horz" wrap="square" lIns="141067" tIns="70534" rIns="141067" bIns="7053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14331950"/>
            <a:ext cx="4160838" cy="752475"/>
          </a:xfrm>
          <a:prstGeom prst="rect">
            <a:avLst/>
          </a:prstGeom>
          <a:noFill/>
          <a:ln w="9525">
            <a:noFill/>
            <a:miter lim="800000"/>
            <a:headEnd/>
            <a:tailEnd/>
          </a:ln>
          <a:effectLst/>
        </p:spPr>
        <p:txBody>
          <a:bodyPr vert="horz" wrap="square" lIns="141067" tIns="70534" rIns="141067" bIns="70534" numCol="1" anchor="b" anchorCtr="0" compatLnSpc="1">
            <a:prstTxWarp prst="textNoShape">
              <a:avLst/>
            </a:prstTxWarp>
          </a:bodyPr>
          <a:lstStyle>
            <a:lvl1pPr defTabSz="1409700">
              <a:defRPr sz="1900">
                <a:latin typeface="Arial" pitchFamily="-111" charset="0"/>
                <a:ea typeface="+mn-ea"/>
                <a:cs typeface="+mn-cs"/>
              </a:defRPr>
            </a:lvl1pPr>
          </a:lstStyle>
          <a:p>
            <a:pPr>
              <a:defRPr/>
            </a:pPr>
            <a:endParaRPr lang="en-US"/>
          </a:p>
        </p:txBody>
      </p:sp>
      <p:sp>
        <p:nvSpPr>
          <p:cNvPr id="3079" name="Rectangle 7"/>
          <p:cNvSpPr>
            <a:spLocks noGrp="1" noChangeArrowheads="1"/>
          </p:cNvSpPr>
          <p:nvPr>
            <p:ph type="sldNum" sz="quarter" idx="5"/>
          </p:nvPr>
        </p:nvSpPr>
        <p:spPr bwMode="auto">
          <a:xfrm>
            <a:off x="5438775" y="14331950"/>
            <a:ext cx="4160838" cy="752475"/>
          </a:xfrm>
          <a:prstGeom prst="rect">
            <a:avLst/>
          </a:prstGeom>
          <a:noFill/>
          <a:ln w="9525">
            <a:noFill/>
            <a:miter lim="800000"/>
            <a:headEnd/>
            <a:tailEnd/>
          </a:ln>
          <a:effectLst/>
        </p:spPr>
        <p:txBody>
          <a:bodyPr vert="horz" wrap="square" lIns="141067" tIns="70534" rIns="141067" bIns="70534" numCol="1" anchor="b" anchorCtr="0" compatLnSpc="1">
            <a:prstTxWarp prst="textNoShape">
              <a:avLst/>
            </a:prstTxWarp>
          </a:bodyPr>
          <a:lstStyle>
            <a:lvl1pPr algn="r" defTabSz="1409700">
              <a:defRPr sz="1900"/>
            </a:lvl1pPr>
          </a:lstStyle>
          <a:p>
            <a:pPr>
              <a:defRPr/>
            </a:pPr>
            <a:fld id="{B0EA37B3-2DB0-3A45-8EC9-10114FA53A48}" type="slidenum">
              <a:rPr lang="en-US"/>
              <a:pPr>
                <a:defRPr/>
              </a:pPr>
              <a:t>‹Nº›</a:t>
            </a:fld>
            <a:endParaRPr lang="en-US"/>
          </a:p>
        </p:txBody>
      </p:sp>
    </p:spTree>
    <p:extLst>
      <p:ext uri="{BB962C8B-B14F-4D97-AF65-F5344CB8AC3E}">
        <p14:creationId xmlns:p14="http://schemas.microsoft.com/office/powerpoint/2010/main" val="21676491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0EA37B3-2DB0-3A45-8EC9-10114FA53A48}" type="slidenum">
              <a:rPr lang="en-US" smtClean="0"/>
              <a:pPr>
                <a:defRPr/>
              </a:pPr>
              <a:t>1</a:t>
            </a:fld>
            <a:endParaRPr lang="en-US"/>
          </a:p>
        </p:txBody>
      </p:sp>
    </p:spTree>
    <p:extLst>
      <p:ext uri="{BB962C8B-B14F-4D97-AF65-F5344CB8AC3E}">
        <p14:creationId xmlns:p14="http://schemas.microsoft.com/office/powerpoint/2010/main" val="1977196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5225" y="3124200"/>
            <a:ext cx="13214350" cy="2155825"/>
          </a:xfrm>
        </p:spPr>
        <p:txBody>
          <a:bodyPr/>
          <a:lstStyle/>
          <a:p>
            <a:r>
              <a:rPr lang="en-US"/>
              <a:t>Click to edit Master title style</a:t>
            </a:r>
          </a:p>
        </p:txBody>
      </p:sp>
      <p:sp>
        <p:nvSpPr>
          <p:cNvPr id="3" name="Subtitle 2"/>
          <p:cNvSpPr>
            <a:spLocks noGrp="1"/>
          </p:cNvSpPr>
          <p:nvPr>
            <p:ph type="subTitle" idx="1"/>
          </p:nvPr>
        </p:nvSpPr>
        <p:spPr>
          <a:xfrm>
            <a:off x="2332038" y="5699125"/>
            <a:ext cx="10880725" cy="2571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0E082D7-7351-FD46-A144-A8103CEB05A0}" type="slidenum">
              <a:rPr lang="en-US"/>
              <a:pPr>
                <a:defRPr/>
              </a:pPr>
              <a:t>‹Nº›</a:t>
            </a:fld>
            <a:endParaRPr lang="en-US"/>
          </a:p>
        </p:txBody>
      </p:sp>
    </p:spTree>
    <p:extLst>
      <p:ext uri="{BB962C8B-B14F-4D97-AF65-F5344CB8AC3E}">
        <p14:creationId xmlns:p14="http://schemas.microsoft.com/office/powerpoint/2010/main" val="601318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055854F-772B-D445-85E5-89B716B84F02}" type="slidenum">
              <a:rPr lang="en-US"/>
              <a:pPr>
                <a:defRPr/>
              </a:pPr>
              <a:t>‹Nº›</a:t>
            </a:fld>
            <a:endParaRPr lang="en-US"/>
          </a:p>
        </p:txBody>
      </p:sp>
    </p:spTree>
    <p:extLst>
      <p:ext uri="{BB962C8B-B14F-4D97-AF65-F5344CB8AC3E}">
        <p14:creationId xmlns:p14="http://schemas.microsoft.com/office/powerpoint/2010/main" val="3056625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8725" y="6462713"/>
            <a:ext cx="13212763" cy="1998662"/>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228725" y="4262438"/>
            <a:ext cx="13212763" cy="22002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C998A4F-23CD-0941-A19E-DD508BCDC3A2}" type="slidenum">
              <a:rPr lang="en-US"/>
              <a:pPr>
                <a:defRPr/>
              </a:pPr>
              <a:t>‹Nº›</a:t>
            </a:fld>
            <a:endParaRPr lang="en-US"/>
          </a:p>
        </p:txBody>
      </p:sp>
    </p:spTree>
    <p:extLst>
      <p:ext uri="{BB962C8B-B14F-4D97-AF65-F5344CB8AC3E}">
        <p14:creationId xmlns:p14="http://schemas.microsoft.com/office/powerpoint/2010/main" val="742864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7875" y="2346325"/>
            <a:ext cx="6918325" cy="6638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48600" y="2346325"/>
            <a:ext cx="6918325" cy="6638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60F012E-BC58-4343-BDE9-6ED1081CF59F}" type="slidenum">
              <a:rPr lang="en-US"/>
              <a:pPr>
                <a:defRPr/>
              </a:pPr>
              <a:t>‹Nº›</a:t>
            </a:fld>
            <a:endParaRPr lang="en-US"/>
          </a:p>
        </p:txBody>
      </p:sp>
    </p:spTree>
    <p:extLst>
      <p:ext uri="{BB962C8B-B14F-4D97-AF65-F5344CB8AC3E}">
        <p14:creationId xmlns:p14="http://schemas.microsoft.com/office/powerpoint/2010/main" val="353036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77875" y="2251075"/>
            <a:ext cx="6867525" cy="9382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875" y="3189288"/>
            <a:ext cx="6867525" cy="57959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96225" y="2251075"/>
            <a:ext cx="6870700" cy="9382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96225" y="3189288"/>
            <a:ext cx="6870700" cy="57959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99C23C0-C871-7A44-BD62-271751C1940C}" type="slidenum">
              <a:rPr lang="en-US"/>
              <a:pPr>
                <a:defRPr/>
              </a:pPr>
              <a:t>‹Nº›</a:t>
            </a:fld>
            <a:endParaRPr lang="en-US"/>
          </a:p>
        </p:txBody>
      </p:sp>
    </p:spTree>
    <p:extLst>
      <p:ext uri="{BB962C8B-B14F-4D97-AF65-F5344CB8AC3E}">
        <p14:creationId xmlns:p14="http://schemas.microsoft.com/office/powerpoint/2010/main" val="2559425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58B8EAE-E78D-DB42-8AF7-5D8C625C8293}" type="slidenum">
              <a:rPr lang="en-US"/>
              <a:pPr>
                <a:defRPr/>
              </a:pPr>
              <a:t>‹Nº›</a:t>
            </a:fld>
            <a:endParaRPr lang="en-US"/>
          </a:p>
        </p:txBody>
      </p:sp>
    </p:spTree>
    <p:extLst>
      <p:ext uri="{BB962C8B-B14F-4D97-AF65-F5344CB8AC3E}">
        <p14:creationId xmlns:p14="http://schemas.microsoft.com/office/powerpoint/2010/main" val="501066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597EF2CA-84A2-B849-8ABE-09806FAADEAE}" type="slidenum">
              <a:rPr lang="en-US"/>
              <a:pPr>
                <a:defRPr/>
              </a:pPr>
              <a:t>‹Nº›</a:t>
            </a:fld>
            <a:endParaRPr lang="en-US"/>
          </a:p>
        </p:txBody>
      </p:sp>
    </p:spTree>
    <p:extLst>
      <p:ext uri="{BB962C8B-B14F-4D97-AF65-F5344CB8AC3E}">
        <p14:creationId xmlns:p14="http://schemas.microsoft.com/office/powerpoint/2010/main" val="1176325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7875" y="400050"/>
            <a:ext cx="5113338" cy="17049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6076950" y="400050"/>
            <a:ext cx="8689975" cy="85852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77875" y="2105025"/>
            <a:ext cx="5113338" cy="68802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C0AD89F-3829-FA41-B09A-DC3D925E3708}" type="slidenum">
              <a:rPr lang="en-US"/>
              <a:pPr>
                <a:defRPr/>
              </a:pPr>
              <a:t>‹Nº›</a:t>
            </a:fld>
            <a:endParaRPr lang="en-US"/>
          </a:p>
        </p:txBody>
      </p:sp>
    </p:spTree>
    <p:extLst>
      <p:ext uri="{BB962C8B-B14F-4D97-AF65-F5344CB8AC3E}">
        <p14:creationId xmlns:p14="http://schemas.microsoft.com/office/powerpoint/2010/main" val="689806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6413" y="7040563"/>
            <a:ext cx="9328150" cy="8318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3046413" y="898525"/>
            <a:ext cx="9328150" cy="60356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3046413" y="7872413"/>
            <a:ext cx="9328150" cy="11795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10DB810-2D64-B44D-B79E-6FB6D5706AEA}" type="slidenum">
              <a:rPr lang="en-US"/>
              <a:pPr>
                <a:defRPr/>
              </a:pPr>
              <a:t>‹Nº›</a:t>
            </a:fld>
            <a:endParaRPr lang="en-US"/>
          </a:p>
        </p:txBody>
      </p:sp>
    </p:spTree>
    <p:extLst>
      <p:ext uri="{BB962C8B-B14F-4D97-AF65-F5344CB8AC3E}">
        <p14:creationId xmlns:p14="http://schemas.microsoft.com/office/powerpoint/2010/main" val="3147597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FE1D6EB-DBCC-114D-9AD4-9D6E23757A25}" type="slidenum">
              <a:rPr lang="en-US"/>
              <a:pPr>
                <a:defRPr/>
              </a:pPr>
              <a:t>‹Nº›</a:t>
            </a:fld>
            <a:endParaRPr lang="en-US"/>
          </a:p>
        </p:txBody>
      </p:sp>
    </p:spTree>
    <p:extLst>
      <p:ext uri="{BB962C8B-B14F-4D97-AF65-F5344CB8AC3E}">
        <p14:creationId xmlns:p14="http://schemas.microsoft.com/office/powerpoint/2010/main" val="4036176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269663" y="403225"/>
            <a:ext cx="3497262" cy="85820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7875" y="403225"/>
            <a:ext cx="10339388" cy="8582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832E2A-B297-C842-8179-6499AA6064B5}" type="slidenum">
              <a:rPr lang="en-US"/>
              <a:pPr>
                <a:defRPr/>
              </a:pPr>
              <a:t>‹Nº›</a:t>
            </a:fld>
            <a:endParaRPr lang="en-US"/>
          </a:p>
        </p:txBody>
      </p:sp>
    </p:spTree>
    <p:extLst>
      <p:ext uri="{BB962C8B-B14F-4D97-AF65-F5344CB8AC3E}">
        <p14:creationId xmlns:p14="http://schemas.microsoft.com/office/powerpoint/2010/main" val="2565939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77875" y="403225"/>
            <a:ext cx="13989050" cy="16764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46304" tIns="73152" rIns="146304" bIns="73152"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77875" y="2346325"/>
            <a:ext cx="13989050" cy="6638925"/>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46304" tIns="73152" rIns="146304" bIns="7315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777875" y="9159875"/>
            <a:ext cx="3625850" cy="698500"/>
          </a:xfrm>
          <a:prstGeom prst="rect">
            <a:avLst/>
          </a:prstGeom>
          <a:noFill/>
          <a:ln w="9525">
            <a:noFill/>
            <a:miter lim="800000"/>
            <a:headEnd/>
            <a:tailEnd/>
          </a:ln>
          <a:effectLst/>
        </p:spPr>
        <p:txBody>
          <a:bodyPr vert="horz" wrap="square" lIns="146304" tIns="73152" rIns="146304" bIns="73152" numCol="1" anchor="t" anchorCtr="0" compatLnSpc="1">
            <a:prstTxWarp prst="textNoShape">
              <a:avLst/>
            </a:prstTxWarp>
          </a:bodyPr>
          <a:lstStyle>
            <a:lvl1pPr>
              <a:defRPr sz="2200">
                <a:latin typeface="Arial" pitchFamily="-111" charset="0"/>
                <a:ea typeface="+mn-ea"/>
                <a:cs typeface="+mn-cs"/>
              </a:defRPr>
            </a:lvl1pPr>
          </a:lstStyle>
          <a:p>
            <a:pPr>
              <a:defRPr/>
            </a:pPr>
            <a:endParaRPr lang="en-US"/>
          </a:p>
        </p:txBody>
      </p:sp>
      <p:sp>
        <p:nvSpPr>
          <p:cNvPr id="1029" name="Rectangle 5"/>
          <p:cNvSpPr>
            <a:spLocks noGrp="1" noChangeArrowheads="1"/>
          </p:cNvSpPr>
          <p:nvPr>
            <p:ph type="ftr" sz="quarter" idx="3"/>
          </p:nvPr>
        </p:nvSpPr>
        <p:spPr bwMode="auto">
          <a:xfrm>
            <a:off x="5311775" y="9159875"/>
            <a:ext cx="4921250" cy="698500"/>
          </a:xfrm>
          <a:prstGeom prst="rect">
            <a:avLst/>
          </a:prstGeom>
          <a:noFill/>
          <a:ln w="9525">
            <a:noFill/>
            <a:miter lim="800000"/>
            <a:headEnd/>
            <a:tailEnd/>
          </a:ln>
          <a:effectLst/>
        </p:spPr>
        <p:txBody>
          <a:bodyPr vert="horz" wrap="square" lIns="146304" tIns="73152" rIns="146304" bIns="73152" numCol="1" anchor="t" anchorCtr="0" compatLnSpc="1">
            <a:prstTxWarp prst="textNoShape">
              <a:avLst/>
            </a:prstTxWarp>
          </a:bodyPr>
          <a:lstStyle>
            <a:lvl1pPr algn="ctr">
              <a:defRPr sz="2200">
                <a:latin typeface="Arial" pitchFamily="-111" charset="0"/>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11141075" y="9159875"/>
            <a:ext cx="3625850" cy="698500"/>
          </a:xfrm>
          <a:prstGeom prst="rect">
            <a:avLst/>
          </a:prstGeom>
          <a:noFill/>
          <a:ln w="9525">
            <a:noFill/>
            <a:miter lim="800000"/>
            <a:headEnd/>
            <a:tailEnd/>
          </a:ln>
          <a:effectLst/>
        </p:spPr>
        <p:txBody>
          <a:bodyPr vert="horz" wrap="square" lIns="146304" tIns="73152" rIns="146304" bIns="73152" numCol="1" anchor="t" anchorCtr="0" compatLnSpc="1">
            <a:prstTxWarp prst="textNoShape">
              <a:avLst/>
            </a:prstTxWarp>
          </a:bodyPr>
          <a:lstStyle>
            <a:lvl1pPr algn="r">
              <a:defRPr sz="2200"/>
            </a:lvl1pPr>
          </a:lstStyle>
          <a:p>
            <a:pPr>
              <a:defRPr/>
            </a:pPr>
            <a:fld id="{DF9ADF22-AEA1-9E47-B592-A0D955AAD411}" type="slidenum">
              <a:rPr lang="en-US"/>
              <a:pPr>
                <a:defRPr/>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463675" rtl="0" eaLnBrk="0" fontAlgn="base" hangingPunct="0">
        <a:spcBef>
          <a:spcPct val="0"/>
        </a:spcBef>
        <a:spcAft>
          <a:spcPct val="0"/>
        </a:spcAft>
        <a:defRPr sz="7000">
          <a:solidFill>
            <a:schemeClr val="tx2"/>
          </a:solidFill>
          <a:latin typeface="+mj-lt"/>
          <a:ea typeface="ＭＳ Ｐゴシック" charset="-128"/>
          <a:cs typeface="ＭＳ Ｐゴシック" charset="-128"/>
        </a:defRPr>
      </a:lvl1pPr>
      <a:lvl2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2pPr>
      <a:lvl3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3pPr>
      <a:lvl4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4pPr>
      <a:lvl5pPr algn="ctr" defTabSz="1463675" rtl="0" eaLnBrk="0" fontAlgn="base" hangingPunct="0">
        <a:spcBef>
          <a:spcPct val="0"/>
        </a:spcBef>
        <a:spcAft>
          <a:spcPct val="0"/>
        </a:spcAft>
        <a:defRPr sz="7000">
          <a:solidFill>
            <a:schemeClr val="tx2"/>
          </a:solidFill>
          <a:latin typeface="Arial" charset="0"/>
          <a:ea typeface="ＭＳ Ｐゴシック" charset="-128"/>
          <a:cs typeface="ＭＳ Ｐゴシック" charset="-128"/>
        </a:defRPr>
      </a:lvl5pPr>
      <a:lvl6pPr marL="457200" algn="ctr" defTabSz="1463675" rtl="0" fontAlgn="base">
        <a:spcBef>
          <a:spcPct val="0"/>
        </a:spcBef>
        <a:spcAft>
          <a:spcPct val="0"/>
        </a:spcAft>
        <a:defRPr sz="7000">
          <a:solidFill>
            <a:schemeClr val="tx2"/>
          </a:solidFill>
          <a:latin typeface="Arial" charset="0"/>
        </a:defRPr>
      </a:lvl6pPr>
      <a:lvl7pPr marL="914400" algn="ctr" defTabSz="1463675" rtl="0" fontAlgn="base">
        <a:spcBef>
          <a:spcPct val="0"/>
        </a:spcBef>
        <a:spcAft>
          <a:spcPct val="0"/>
        </a:spcAft>
        <a:defRPr sz="7000">
          <a:solidFill>
            <a:schemeClr val="tx2"/>
          </a:solidFill>
          <a:latin typeface="Arial" charset="0"/>
        </a:defRPr>
      </a:lvl7pPr>
      <a:lvl8pPr marL="1371600" algn="ctr" defTabSz="1463675" rtl="0" fontAlgn="base">
        <a:spcBef>
          <a:spcPct val="0"/>
        </a:spcBef>
        <a:spcAft>
          <a:spcPct val="0"/>
        </a:spcAft>
        <a:defRPr sz="7000">
          <a:solidFill>
            <a:schemeClr val="tx2"/>
          </a:solidFill>
          <a:latin typeface="Arial" charset="0"/>
        </a:defRPr>
      </a:lvl8pPr>
      <a:lvl9pPr marL="1828800" algn="ctr" defTabSz="1463675" rtl="0" fontAlgn="base">
        <a:spcBef>
          <a:spcPct val="0"/>
        </a:spcBef>
        <a:spcAft>
          <a:spcPct val="0"/>
        </a:spcAft>
        <a:defRPr sz="7000">
          <a:solidFill>
            <a:schemeClr val="tx2"/>
          </a:solidFill>
          <a:latin typeface="Arial" charset="0"/>
        </a:defRPr>
      </a:lvl9pPr>
    </p:titleStyle>
    <p:bodyStyle>
      <a:lvl1pPr marL="549275" indent="-549275" algn="l" defTabSz="1463675" rtl="0" eaLnBrk="0" fontAlgn="base" hangingPunct="0">
        <a:spcBef>
          <a:spcPct val="20000"/>
        </a:spcBef>
        <a:spcAft>
          <a:spcPct val="0"/>
        </a:spcAft>
        <a:buChar char="•"/>
        <a:defRPr sz="5100">
          <a:solidFill>
            <a:schemeClr val="tx1"/>
          </a:solidFill>
          <a:latin typeface="+mn-lt"/>
          <a:ea typeface="ＭＳ Ｐゴシック" charset="-128"/>
          <a:cs typeface="ＭＳ Ｐゴシック" charset="-128"/>
        </a:defRPr>
      </a:lvl1pPr>
      <a:lvl2pPr marL="1189038" indent="-457200" algn="l" defTabSz="1463675" rtl="0" eaLnBrk="0" fontAlgn="base" hangingPunct="0">
        <a:spcBef>
          <a:spcPct val="20000"/>
        </a:spcBef>
        <a:spcAft>
          <a:spcPct val="0"/>
        </a:spcAft>
        <a:buChar char="–"/>
        <a:defRPr sz="4500">
          <a:solidFill>
            <a:schemeClr val="tx1"/>
          </a:solidFill>
          <a:latin typeface="+mn-lt"/>
          <a:ea typeface="ＭＳ Ｐゴシック" charset="-128"/>
        </a:defRPr>
      </a:lvl2pPr>
      <a:lvl3pPr marL="1828800" indent="-365125" algn="l" defTabSz="1463675" rtl="0" eaLnBrk="0" fontAlgn="base" hangingPunct="0">
        <a:spcBef>
          <a:spcPct val="20000"/>
        </a:spcBef>
        <a:spcAft>
          <a:spcPct val="0"/>
        </a:spcAft>
        <a:buChar char="•"/>
        <a:defRPr sz="3800">
          <a:solidFill>
            <a:schemeClr val="tx1"/>
          </a:solidFill>
          <a:latin typeface="+mn-lt"/>
          <a:ea typeface="ＭＳ Ｐゴシック" charset="-128"/>
        </a:defRPr>
      </a:lvl3pPr>
      <a:lvl4pPr marL="2560638" indent="-366713" algn="l" defTabSz="1463675" rtl="0" eaLnBrk="0" fontAlgn="base" hangingPunct="0">
        <a:spcBef>
          <a:spcPct val="20000"/>
        </a:spcBef>
        <a:spcAft>
          <a:spcPct val="0"/>
        </a:spcAft>
        <a:buChar char="–"/>
        <a:defRPr sz="3200">
          <a:solidFill>
            <a:schemeClr val="tx1"/>
          </a:solidFill>
          <a:latin typeface="+mn-lt"/>
          <a:ea typeface="ＭＳ Ｐゴシック" charset="-128"/>
        </a:defRPr>
      </a:lvl4pPr>
      <a:lvl5pPr marL="3292475" indent="-366713" algn="l" defTabSz="1463675" rtl="0" eaLnBrk="0" fontAlgn="base" hangingPunct="0">
        <a:spcBef>
          <a:spcPct val="20000"/>
        </a:spcBef>
        <a:spcAft>
          <a:spcPct val="0"/>
        </a:spcAft>
        <a:buChar char="»"/>
        <a:defRPr sz="3200">
          <a:solidFill>
            <a:schemeClr val="tx1"/>
          </a:solidFill>
          <a:latin typeface="+mn-lt"/>
          <a:ea typeface="ＭＳ Ｐゴシック" charset="-128"/>
        </a:defRPr>
      </a:lvl5pPr>
      <a:lvl6pPr marL="3749675" indent="-366713" algn="l" defTabSz="1463675" rtl="0" fontAlgn="base">
        <a:spcBef>
          <a:spcPct val="20000"/>
        </a:spcBef>
        <a:spcAft>
          <a:spcPct val="0"/>
        </a:spcAft>
        <a:buChar char="»"/>
        <a:defRPr sz="3200">
          <a:solidFill>
            <a:schemeClr val="tx1"/>
          </a:solidFill>
          <a:latin typeface="+mn-lt"/>
        </a:defRPr>
      </a:lvl6pPr>
      <a:lvl7pPr marL="4206875" indent="-366713" algn="l" defTabSz="1463675" rtl="0" fontAlgn="base">
        <a:spcBef>
          <a:spcPct val="20000"/>
        </a:spcBef>
        <a:spcAft>
          <a:spcPct val="0"/>
        </a:spcAft>
        <a:buChar char="»"/>
        <a:defRPr sz="3200">
          <a:solidFill>
            <a:schemeClr val="tx1"/>
          </a:solidFill>
          <a:latin typeface="+mn-lt"/>
        </a:defRPr>
      </a:lvl7pPr>
      <a:lvl8pPr marL="4664075" indent="-366713" algn="l" defTabSz="1463675" rtl="0" fontAlgn="base">
        <a:spcBef>
          <a:spcPct val="20000"/>
        </a:spcBef>
        <a:spcAft>
          <a:spcPct val="0"/>
        </a:spcAft>
        <a:buChar char="»"/>
        <a:defRPr sz="3200">
          <a:solidFill>
            <a:schemeClr val="tx1"/>
          </a:solidFill>
          <a:latin typeface="+mn-lt"/>
        </a:defRPr>
      </a:lvl8pPr>
      <a:lvl9pPr marL="5121275" indent="-366713" algn="l" defTabSz="1463675" rtl="0" fontAlgn="base">
        <a:spcBef>
          <a:spcPct val="20000"/>
        </a:spcBef>
        <a:spcAft>
          <a:spcPct val="0"/>
        </a:spcAft>
        <a:buChar char="»"/>
        <a:defRPr sz="3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Rectangle 1"/>
          <p:cNvSpPr/>
          <p:nvPr/>
        </p:nvSpPr>
        <p:spPr bwMode="auto">
          <a:xfrm>
            <a:off x="457200" y="1054100"/>
            <a:ext cx="14630400" cy="8686800"/>
          </a:xfrm>
          <a:prstGeom prst="rect">
            <a:avLst/>
          </a:prstGeom>
          <a:solidFill>
            <a:schemeClr val="bg1"/>
          </a:solidFill>
          <a:ln w="76200" cap="flat" cmpd="sng" algn="ctr">
            <a:solidFill>
              <a:schemeClr val="tx1">
                <a:lumMod val="75000"/>
                <a:lumOff val="25000"/>
              </a:schemeClr>
            </a:solidFill>
            <a:prstDash val="solid"/>
            <a:round/>
            <a:headEnd type="none" w="med" len="med"/>
            <a:tailEnd type="none" w="med" len="med"/>
          </a:ln>
          <a:effectLst/>
        </p:spPr>
        <p:txBody>
          <a:bodyPr/>
          <a:lstStyle/>
          <a:p>
            <a:pPr defTabSz="1463675">
              <a:defRPr/>
            </a:pPr>
            <a:endParaRPr lang="en-US" dirty="0"/>
          </a:p>
        </p:txBody>
      </p:sp>
      <p:sp>
        <p:nvSpPr>
          <p:cNvPr id="26627" name="TextBox 2"/>
          <p:cNvSpPr txBox="1">
            <a:spLocks noChangeArrowheads="1"/>
          </p:cNvSpPr>
          <p:nvPr/>
        </p:nvSpPr>
        <p:spPr bwMode="auto">
          <a:xfrm>
            <a:off x="152400" y="228600"/>
            <a:ext cx="48006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900">
                <a:solidFill>
                  <a:schemeClr val="tx1"/>
                </a:solidFill>
                <a:latin typeface="Arial" charset="0"/>
                <a:ea typeface="ＭＳ Ｐゴシック" charset="0"/>
                <a:cs typeface="ＭＳ Ｐゴシック" charset="0"/>
              </a:defRPr>
            </a:lvl1pPr>
            <a:lvl2pPr marL="742950" indent="-285750" eaLnBrk="0" hangingPunct="0">
              <a:defRPr sz="2900">
                <a:solidFill>
                  <a:schemeClr val="tx1"/>
                </a:solidFill>
                <a:latin typeface="Arial" charset="0"/>
                <a:ea typeface="ＭＳ Ｐゴシック" charset="0"/>
              </a:defRPr>
            </a:lvl2pPr>
            <a:lvl3pPr marL="1143000" indent="-228600" eaLnBrk="0" hangingPunct="0">
              <a:defRPr sz="2900">
                <a:solidFill>
                  <a:schemeClr val="tx1"/>
                </a:solidFill>
                <a:latin typeface="Arial" charset="0"/>
                <a:ea typeface="ＭＳ Ｐゴシック" charset="0"/>
              </a:defRPr>
            </a:lvl3pPr>
            <a:lvl4pPr marL="1600200" indent="-228600" eaLnBrk="0" hangingPunct="0">
              <a:defRPr sz="2900">
                <a:solidFill>
                  <a:schemeClr val="tx1"/>
                </a:solidFill>
                <a:latin typeface="Arial" charset="0"/>
                <a:ea typeface="ＭＳ Ｐゴシック" charset="0"/>
              </a:defRPr>
            </a:lvl4pPr>
            <a:lvl5pPr marL="2057400" indent="-228600" eaLnBrk="0" hangingPunct="0">
              <a:defRPr sz="2900">
                <a:solidFill>
                  <a:schemeClr val="tx1"/>
                </a:solidFill>
                <a:latin typeface="Arial" charset="0"/>
                <a:ea typeface="ＭＳ Ｐゴシック" charset="0"/>
              </a:defRPr>
            </a:lvl5pPr>
            <a:lvl6pPr marL="2514600" indent="-228600" eaLnBrk="0" fontAlgn="base" hangingPunct="0">
              <a:spcBef>
                <a:spcPct val="0"/>
              </a:spcBef>
              <a:spcAft>
                <a:spcPct val="0"/>
              </a:spcAft>
              <a:defRPr sz="2900">
                <a:solidFill>
                  <a:schemeClr val="tx1"/>
                </a:solidFill>
                <a:latin typeface="Arial" charset="0"/>
                <a:ea typeface="ＭＳ Ｐゴシック" charset="0"/>
              </a:defRPr>
            </a:lvl6pPr>
            <a:lvl7pPr marL="2971800" indent="-228600" eaLnBrk="0" fontAlgn="base" hangingPunct="0">
              <a:spcBef>
                <a:spcPct val="0"/>
              </a:spcBef>
              <a:spcAft>
                <a:spcPct val="0"/>
              </a:spcAft>
              <a:defRPr sz="2900">
                <a:solidFill>
                  <a:schemeClr val="tx1"/>
                </a:solidFill>
                <a:latin typeface="Arial" charset="0"/>
                <a:ea typeface="ＭＳ Ｐゴシック" charset="0"/>
              </a:defRPr>
            </a:lvl7pPr>
            <a:lvl8pPr marL="3429000" indent="-228600" eaLnBrk="0" fontAlgn="base" hangingPunct="0">
              <a:spcBef>
                <a:spcPct val="0"/>
              </a:spcBef>
              <a:spcAft>
                <a:spcPct val="0"/>
              </a:spcAft>
              <a:defRPr sz="2900">
                <a:solidFill>
                  <a:schemeClr val="tx1"/>
                </a:solidFill>
                <a:latin typeface="Arial" charset="0"/>
                <a:ea typeface="ＭＳ Ｐゴシック" charset="0"/>
              </a:defRPr>
            </a:lvl8pPr>
            <a:lvl9pPr marL="3886200" indent="-228600" eaLnBrk="0" fontAlgn="base" hangingPunct="0">
              <a:spcBef>
                <a:spcPct val="0"/>
              </a:spcBef>
              <a:spcAft>
                <a:spcPct val="0"/>
              </a:spcAft>
              <a:defRPr sz="2900">
                <a:solidFill>
                  <a:schemeClr val="tx1"/>
                </a:solidFill>
                <a:latin typeface="Arial" charset="0"/>
                <a:ea typeface="ＭＳ Ｐゴシック" charset="0"/>
              </a:defRPr>
            </a:lvl9pPr>
          </a:lstStyle>
          <a:p>
            <a:pPr eaLnBrk="1" hangingPunct="1"/>
            <a:r>
              <a:rPr lang="en-US" sz="3600" dirty="0">
                <a:latin typeface="Helvetica" charset="0"/>
                <a:cs typeface="Helvetica" charset="0"/>
              </a:rPr>
              <a:t>Lean UX Canvas (v2)</a:t>
            </a:r>
          </a:p>
        </p:txBody>
      </p:sp>
      <p:sp>
        <p:nvSpPr>
          <p:cNvPr id="4" name="Rectangle 3"/>
          <p:cNvSpPr/>
          <p:nvPr/>
        </p:nvSpPr>
        <p:spPr bwMode="auto">
          <a:xfrm>
            <a:off x="457200" y="3802856"/>
            <a:ext cx="5410200" cy="3207544"/>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Users</a:t>
            </a:r>
          </a:p>
          <a:p>
            <a:pPr marL="171450" indent="-171450" algn="just">
              <a:buFont typeface="Arial" panose="020B0604020202020204" pitchFamily="34" charset="0"/>
              <a:buChar char="•"/>
              <a:defRPr/>
            </a:pPr>
            <a:r>
              <a:rPr lang="en-US" sz="1050" b="1" dirty="0">
                <a:latin typeface="Helvetica Neue"/>
                <a:cs typeface="Helvetica Neue"/>
              </a:rPr>
              <a:t>Quality Assurance and Quality Control (QA/QC) Specialist: </a:t>
            </a:r>
            <a:r>
              <a:rPr lang="en-US" sz="1050" dirty="0">
                <a:latin typeface="Helvetica Neue"/>
                <a:cs typeface="Helvetica Neue"/>
              </a:rPr>
              <a:t>Strategic user responsible for ensuring compliance with Good Manufacturing Practices (GMP), managing quality documentation, investigating deviations, maintaining quality records, participating in audits, and verifying traceability requirements according to regulatory standards such as DIGEMID.</a:t>
            </a:r>
          </a:p>
          <a:p>
            <a:pPr marL="171450" indent="-171450" algn="just">
              <a:buFont typeface="Arial" panose="020B0604020202020204" pitchFamily="34" charset="0"/>
              <a:buChar char="•"/>
              <a:defRPr/>
            </a:pPr>
            <a:endParaRPr lang="en-US" sz="100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rPr>
              <a:t>Pharmaceutical Production Supervisor: </a:t>
            </a:r>
            <a:r>
              <a:rPr lang="en-US" sz="1050" dirty="0">
                <a:latin typeface="Helvetica Neue"/>
                <a:cs typeface="Helvetica Neue"/>
              </a:rPr>
              <a:t>Strategic user responsible for supervising pharmaceutical manufacturing activities, monitoring operational compliance, reviewing batch-related information, coordinating production records, and ensuring adequate traceability throughout the manufacturing lifecycle.</a:t>
            </a:r>
          </a:p>
        </p:txBody>
      </p:sp>
      <p:sp>
        <p:nvSpPr>
          <p:cNvPr id="6" name="Rectangle 5"/>
          <p:cNvSpPr/>
          <p:nvPr/>
        </p:nvSpPr>
        <p:spPr bwMode="auto">
          <a:xfrm>
            <a:off x="5867400" y="1052512"/>
            <a:ext cx="3809998" cy="5957888"/>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Solutions</a:t>
            </a:r>
          </a:p>
          <a:p>
            <a:pPr marL="171450" indent="-171450" algn="just">
              <a:buFont typeface="Arial" panose="020B0604020202020204" pitchFamily="34" charset="0"/>
              <a:buChar char="•"/>
              <a:defRPr/>
            </a:pPr>
            <a:r>
              <a:rPr lang="en-US" sz="1050" b="1" dirty="0">
                <a:latin typeface="Helvetica Neue"/>
                <a:cs typeface="Helvetica Neue"/>
              </a:rPr>
              <a:t>Quality Documentation Management: </a:t>
            </a:r>
            <a:r>
              <a:rPr lang="en-US" sz="1050" dirty="0">
                <a:latin typeface="Helvetica Neue"/>
                <a:cs typeface="Helvetica Neue"/>
              </a:rPr>
              <a:t>A centralized digital module for managing SOPs, protocols, quality records, validation documents, and regulatory evidence through version control and electronic approvals.</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Electronic Batch Traceability System: </a:t>
            </a:r>
            <a:r>
              <a:rPr lang="en-US" sz="1050" dirty="0">
                <a:latin typeface="Helvetica Neue"/>
                <a:cs typeface="Helvetica Neue"/>
              </a:rPr>
              <a:t>A unified electronic batch record that consolidates production, quality, and traceability information, allowing users to reconstruct the complete lifecycle of any batch.</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Deviation and CAPA Management: </a:t>
            </a:r>
            <a:r>
              <a:rPr lang="en-US" sz="1050" dirty="0">
                <a:latin typeface="Helvetica Neue"/>
                <a:cs typeface="Helvetica Neue"/>
              </a:rPr>
              <a:t>A structured workflow for registering, investigating, monitoring, approving, and closing deviations and corrective and preventive actions.</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IoT Traceability Integration: </a:t>
            </a:r>
            <a:r>
              <a:rPr lang="en-US" sz="1050" dirty="0">
                <a:latin typeface="Helvetica Neue"/>
                <a:cs typeface="Helvetica Neue"/>
              </a:rPr>
              <a:t>Integration with </a:t>
            </a:r>
            <a:r>
              <a:rPr lang="en-US" sz="1050" dirty="0" err="1">
                <a:latin typeface="Helvetica Neue"/>
                <a:cs typeface="Helvetica Neue"/>
              </a:rPr>
              <a:t>ThingsBoard</a:t>
            </a:r>
            <a:r>
              <a:rPr lang="en-US" sz="1050" dirty="0">
                <a:latin typeface="Helvetica Neue"/>
                <a:cs typeface="Helvetica Neue"/>
              </a:rPr>
              <a:t> to automatically associate sensor-generated process data with pharmaceutical batches and quality events.</a:t>
            </a:r>
          </a:p>
          <a:p>
            <a:pPr marL="171450" indent="-171450" algn="just">
              <a:buFont typeface="Arial" panose="020B0604020202020204" pitchFamily="34" charset="0"/>
              <a:buChar char="•"/>
              <a:defRPr/>
            </a:pPr>
            <a:endParaRPr lang="en-US" sz="1050" dirty="0">
              <a:latin typeface="Helvetica Neue"/>
              <a:cs typeface="Helvetica Neue"/>
            </a:endParaRPr>
          </a:p>
          <a:p>
            <a:pPr marL="171450" indent="-171450" algn="just">
              <a:buFont typeface="Arial" panose="020B0604020202020204" pitchFamily="34" charset="0"/>
              <a:buChar char="•"/>
              <a:defRPr/>
            </a:pPr>
            <a:r>
              <a:rPr lang="en-US" sz="1050" b="1" dirty="0">
                <a:latin typeface="Helvetica Neue"/>
                <a:cs typeface="Helvetica Neue"/>
              </a:rPr>
              <a:t>Audit-Ready Reporting: </a:t>
            </a:r>
            <a:r>
              <a:rPr lang="en-US" sz="1050" dirty="0">
                <a:latin typeface="Helvetica Neue"/>
                <a:cs typeface="Helvetica Neue"/>
              </a:rPr>
              <a:t>Automated generation of audit reports and evidence packages required for inspections, reviews, and regulatory assessments.</a:t>
            </a:r>
          </a:p>
        </p:txBody>
      </p:sp>
      <p:sp>
        <p:nvSpPr>
          <p:cNvPr id="7" name="Rectangle 6"/>
          <p:cNvSpPr/>
          <p:nvPr/>
        </p:nvSpPr>
        <p:spPr bwMode="auto">
          <a:xfrm>
            <a:off x="9677400" y="3810000"/>
            <a:ext cx="5419724" cy="32004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User Outcomes &amp; Benefits</a:t>
            </a:r>
          </a:p>
          <a:p>
            <a:pPr marL="228600" indent="-228600" algn="just">
              <a:buFont typeface="+mj-lt"/>
              <a:buAutoNum type="arabicPeriod"/>
              <a:defRPr/>
            </a:pPr>
            <a:r>
              <a:rPr lang="en-US" sz="900" b="1" i="1" dirty="0">
                <a:latin typeface="Helvetica Neue"/>
                <a:cs typeface="Helvetica Neue"/>
              </a:rPr>
              <a:t>Quality Assurance and Quality Control (QA/QC) Specialist</a:t>
            </a:r>
          </a:p>
          <a:p>
            <a:pPr marL="685800" lvl="1" indent="-228600" algn="just">
              <a:buFont typeface="Arial" panose="020B0604020202020204" pitchFamily="34" charset="0"/>
              <a:buChar char="•"/>
              <a:defRPr/>
            </a:pPr>
            <a:r>
              <a:rPr lang="en-US" sz="900" b="1" dirty="0">
                <a:latin typeface="Helvetica Neue"/>
                <a:cs typeface="Helvetica Neue"/>
              </a:rPr>
              <a:t>What are they trying to accomplish?</a:t>
            </a:r>
          </a:p>
          <a:p>
            <a:pPr lvl="2" algn="just">
              <a:defRPr/>
            </a:pPr>
            <a:r>
              <a:rPr lang="en-US" sz="900" dirty="0">
                <a:latin typeface="Helvetica Neue"/>
                <a:cs typeface="Helvetica Neue"/>
              </a:rPr>
              <a:t>Maintain regulatory compliance, manage quality documentation efficiently, investigate deviations, prepare audit evidence, and ensure data integrity.</a:t>
            </a:r>
          </a:p>
          <a:p>
            <a:pPr marL="685800" lvl="1" indent="-228600" algn="just">
              <a:buFont typeface="Arial" panose="020B0604020202020204" pitchFamily="34" charset="0"/>
              <a:buChar char="•"/>
              <a:defRPr/>
            </a:pPr>
            <a:r>
              <a:rPr lang="en-US" sz="900" b="1" dirty="0">
                <a:latin typeface="Helvetica Neue"/>
                <a:cs typeface="Helvetica Neue"/>
              </a:rPr>
              <a:t>How do they want to feel?</a:t>
            </a:r>
          </a:p>
          <a:p>
            <a:pPr lvl="2" algn="just">
              <a:defRPr/>
            </a:pPr>
            <a:r>
              <a:rPr lang="en-US" sz="900" dirty="0">
                <a:latin typeface="Helvetica Neue"/>
                <a:cs typeface="Helvetica Neue"/>
              </a:rPr>
              <a:t>Confident that all quality information is complete, organized, traceable, and ready for inspections or audits.</a:t>
            </a:r>
          </a:p>
          <a:p>
            <a:pPr marL="685800" lvl="1" indent="-228600" algn="just">
              <a:buFont typeface="Arial" panose="020B0604020202020204" pitchFamily="34" charset="0"/>
              <a:buChar char="•"/>
              <a:defRPr/>
            </a:pPr>
            <a:r>
              <a:rPr lang="en-US" sz="900" b="1" dirty="0">
                <a:latin typeface="Helvetica Neue"/>
                <a:cs typeface="Helvetica Neue"/>
              </a:rPr>
              <a:t>What behavior change tells us they have achieved their goal?</a:t>
            </a:r>
          </a:p>
          <a:p>
            <a:pPr lvl="2" algn="just">
              <a:defRPr/>
            </a:pPr>
            <a:r>
              <a:rPr lang="en-US" sz="900" dirty="0">
                <a:latin typeface="Helvetica Neue"/>
                <a:cs typeface="Helvetica Neue"/>
              </a:rPr>
              <a:t>They use </a:t>
            </a:r>
            <a:r>
              <a:rPr lang="en-US" sz="900" dirty="0" err="1">
                <a:latin typeface="Helvetica Neue"/>
                <a:cs typeface="Helvetica Neue"/>
              </a:rPr>
              <a:t>DoofPlus</a:t>
            </a:r>
            <a:r>
              <a:rPr lang="en-US" sz="900" dirty="0">
                <a:latin typeface="Helvetica Neue"/>
                <a:cs typeface="Helvetica Neue"/>
              </a:rPr>
              <a:t> as their primary source for quality documentation, audit evidence, and deviation management instead of relying on multiple disconnected sources.</a:t>
            </a:r>
          </a:p>
          <a:p>
            <a:pPr lvl="2" algn="just">
              <a:defRPr/>
            </a:pPr>
            <a:endParaRPr lang="en-US" sz="500" dirty="0">
              <a:latin typeface="Helvetica Neue"/>
              <a:cs typeface="Helvetica Neue"/>
            </a:endParaRPr>
          </a:p>
          <a:p>
            <a:pPr marL="228600" indent="-228600" algn="just">
              <a:buFont typeface="+mj-lt"/>
              <a:buAutoNum type="arabicPeriod"/>
              <a:defRPr/>
            </a:pPr>
            <a:r>
              <a:rPr lang="en-US" sz="900" b="1" i="1" dirty="0">
                <a:latin typeface="Helvetica Neue"/>
                <a:cs typeface="Helvetica Neue"/>
              </a:rPr>
              <a:t>Pharmaceutical Production Supervisor</a:t>
            </a:r>
          </a:p>
          <a:p>
            <a:pPr marL="685800" lvl="1" indent="-228600" algn="just">
              <a:buFont typeface="Arial" panose="020B0604020202020204" pitchFamily="34" charset="0"/>
              <a:buChar char="•"/>
              <a:defRPr/>
            </a:pPr>
            <a:r>
              <a:rPr lang="en-US" sz="900" b="1" dirty="0">
                <a:latin typeface="Helvetica Neue"/>
                <a:cs typeface="Helvetica Neue"/>
              </a:rPr>
              <a:t>What are they trying to accomplish?</a:t>
            </a:r>
          </a:p>
          <a:p>
            <a:pPr lvl="2" algn="just">
              <a:defRPr/>
            </a:pPr>
            <a:r>
              <a:rPr lang="en-US" sz="900" dirty="0">
                <a:latin typeface="Helvetica Neue"/>
                <a:cs typeface="Helvetica Neue"/>
              </a:rPr>
              <a:t>Monitor batch status, coordinate approvals with Quality Assurance, track manufacturing activities, and ensure complete batch traceability.</a:t>
            </a:r>
          </a:p>
          <a:p>
            <a:pPr marL="685800" lvl="1" indent="-228600" algn="just">
              <a:buFont typeface="Arial" panose="020B0604020202020204" pitchFamily="34" charset="0"/>
              <a:buChar char="•"/>
              <a:defRPr/>
            </a:pPr>
            <a:r>
              <a:rPr lang="en-US" sz="900" b="1" dirty="0">
                <a:latin typeface="Helvetica Neue"/>
                <a:cs typeface="Helvetica Neue"/>
              </a:rPr>
              <a:t>How do they want to feel?</a:t>
            </a:r>
          </a:p>
          <a:p>
            <a:pPr lvl="2" algn="just">
              <a:defRPr/>
            </a:pPr>
            <a:r>
              <a:rPr lang="en-US" sz="900" dirty="0">
                <a:latin typeface="Helvetica Neue"/>
                <a:cs typeface="Helvetica Neue"/>
              </a:rPr>
              <a:t>Confident that production and quality information is accurate, up-to-date, and available when needed.</a:t>
            </a:r>
          </a:p>
          <a:p>
            <a:pPr marL="685800" lvl="1" indent="-228600" algn="just">
              <a:buFont typeface="Arial" panose="020B0604020202020204" pitchFamily="34" charset="0"/>
              <a:buChar char="•"/>
              <a:defRPr/>
            </a:pPr>
            <a:r>
              <a:rPr lang="en-US" sz="900" b="1" dirty="0">
                <a:latin typeface="Helvetica Neue"/>
                <a:cs typeface="Helvetica Neue"/>
              </a:rPr>
              <a:t>What behavior change tells us they have achieved their goal?</a:t>
            </a:r>
          </a:p>
          <a:p>
            <a:pPr lvl="2" algn="just">
              <a:defRPr/>
            </a:pPr>
            <a:r>
              <a:rPr lang="en-US" sz="900" dirty="0">
                <a:latin typeface="Helvetica Neue"/>
                <a:cs typeface="Helvetica Neue"/>
              </a:rPr>
              <a:t>They rely on </a:t>
            </a:r>
            <a:r>
              <a:rPr lang="en-US" sz="900" dirty="0" err="1">
                <a:latin typeface="Helvetica Neue"/>
                <a:cs typeface="Helvetica Neue"/>
              </a:rPr>
              <a:t>DoofPlus</a:t>
            </a:r>
            <a:r>
              <a:rPr lang="en-US" sz="900" dirty="0">
                <a:latin typeface="Helvetica Neue"/>
                <a:cs typeface="Helvetica Neue"/>
              </a:rPr>
              <a:t> to review batch progress, approvals, deviations, and traceability information rather than spreadsheets or paper records.</a:t>
            </a:r>
          </a:p>
        </p:txBody>
      </p:sp>
      <p:sp>
        <p:nvSpPr>
          <p:cNvPr id="8" name="Rectangle 7"/>
          <p:cNvSpPr/>
          <p:nvPr/>
        </p:nvSpPr>
        <p:spPr bwMode="auto">
          <a:xfrm>
            <a:off x="486064" y="7017544"/>
            <a:ext cx="5381333" cy="2723356"/>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Hypotheses</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a 50% reduction in the time QA/QC specialists spend searching for quality documentation </a:t>
            </a:r>
            <a:r>
              <a:rPr lang="en-US" sz="650" b="1" dirty="0">
                <a:latin typeface="Helvetica Neue"/>
                <a:cs typeface="Helvetica Neue"/>
              </a:rPr>
              <a:t>if </a:t>
            </a:r>
            <a:r>
              <a:rPr lang="en-US" sz="650" dirty="0">
                <a:latin typeface="Helvetica Neue"/>
                <a:cs typeface="Helvetica Neue"/>
              </a:rPr>
              <a:t>QA/QC specialists </a:t>
            </a:r>
            <a:r>
              <a:rPr lang="en-US" sz="650" b="1" dirty="0">
                <a:latin typeface="Helvetica Neue"/>
                <a:cs typeface="Helvetica Neue"/>
              </a:rPr>
              <a:t>attain</a:t>
            </a:r>
            <a:r>
              <a:rPr lang="en-US" sz="650" dirty="0">
                <a:latin typeface="Helvetica Neue"/>
                <a:cs typeface="Helvetica Neue"/>
              </a:rPr>
              <a:t> fast access to current, approved and version-controlled protocols and SOPs with digital protocol and SOP management </a:t>
            </a:r>
            <a:r>
              <a:rPr lang="en-US" sz="650" b="1" dirty="0">
                <a:latin typeface="Helvetica Neue"/>
                <a:cs typeface="Helvetica Neue"/>
              </a:rPr>
              <a:t>with </a:t>
            </a:r>
            <a:r>
              <a:rPr lang="en-US" sz="650" dirty="0">
                <a:latin typeface="Helvetica Neue"/>
                <a:cs typeface="Helvetica Neue"/>
              </a:rPr>
              <a:t>version control and electronic approval.</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a 40% reduction in the average batch release and traceability time during the first six months of use </a:t>
            </a:r>
            <a:r>
              <a:rPr lang="en-US" sz="650" b="1" dirty="0">
                <a:latin typeface="Helvetica Neue"/>
                <a:cs typeface="Helvetica Neue"/>
              </a:rPr>
              <a:t>if </a:t>
            </a:r>
            <a:r>
              <a:rPr lang="en-US" sz="650" dirty="0">
                <a:latin typeface="Helvetica Neue"/>
                <a:cs typeface="Helvetica Neue"/>
              </a:rPr>
              <a:t>QA/QC specialists and production supervisors </a:t>
            </a:r>
            <a:r>
              <a:rPr lang="en-US" sz="650" b="1" dirty="0">
                <a:latin typeface="Helvetica Neue"/>
                <a:cs typeface="Helvetica Neue"/>
              </a:rPr>
              <a:t>attain </a:t>
            </a:r>
            <a:r>
              <a:rPr lang="en-US" sz="650" dirty="0">
                <a:latin typeface="Helvetica Neue"/>
                <a:cs typeface="Helvetica Neue"/>
              </a:rPr>
              <a:t>the ability to reconstruct the complete lifecycle of a batch in a single view </a:t>
            </a:r>
            <a:r>
              <a:rPr lang="en-US" sz="650" b="1" dirty="0">
                <a:latin typeface="Helvetica Neue"/>
                <a:cs typeface="Helvetica Neue"/>
              </a:rPr>
              <a:t>with </a:t>
            </a:r>
            <a:r>
              <a:rPr lang="en-US" sz="650" dirty="0">
                <a:latin typeface="Helvetica Neue"/>
                <a:cs typeface="Helvetica Neue"/>
              </a:rPr>
              <a:t>a centralized electronic batch record with a traceability timeline.</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that 90% of deviations are closed with a documented root cause and CAPA within their due date </a:t>
            </a:r>
            <a:r>
              <a:rPr lang="en-US" sz="650" b="1" dirty="0">
                <a:latin typeface="Helvetica Neue"/>
                <a:cs typeface="Helvetica Neue"/>
              </a:rPr>
              <a:t>if </a:t>
            </a:r>
            <a:r>
              <a:rPr lang="en-US" sz="650" dirty="0">
                <a:latin typeface="Helvetica Neue"/>
                <a:cs typeface="Helvetica Neue"/>
              </a:rPr>
              <a:t>QA/QC specialists and production supervisors </a:t>
            </a:r>
            <a:r>
              <a:rPr lang="en-US" sz="650" b="1" dirty="0">
                <a:latin typeface="Helvetica Neue"/>
                <a:cs typeface="Helvetica Neue"/>
              </a:rPr>
              <a:t>attain </a:t>
            </a:r>
            <a:r>
              <a:rPr lang="en-US" sz="650" dirty="0">
                <a:latin typeface="Helvetica Neue"/>
                <a:cs typeface="Helvetica Neue"/>
              </a:rPr>
              <a:t>a structured and trackable workflow to register, investigate and close deviations </a:t>
            </a:r>
            <a:r>
              <a:rPr lang="en-US" sz="650" b="1" dirty="0">
                <a:latin typeface="Helvetica Neue"/>
                <a:cs typeface="Helvetica Neue"/>
              </a:rPr>
              <a:t>with </a:t>
            </a:r>
            <a:r>
              <a:rPr lang="en-US" sz="650" dirty="0">
                <a:latin typeface="Helvetica Neue"/>
                <a:cs typeface="Helvetica Neue"/>
              </a:rPr>
              <a:t>deviation and CAPA management with root-cause analysis.</a:t>
            </a:r>
          </a:p>
          <a:p>
            <a:pPr marL="228600" indent="-228600" algn="just">
              <a:buFont typeface="+mj-lt"/>
              <a:buAutoNum type="arabicPeriod"/>
              <a:defRPr/>
            </a:pPr>
            <a:r>
              <a:rPr lang="en-US" sz="650" b="1" dirty="0">
                <a:latin typeface="Helvetica Neue"/>
                <a:cs typeface="Helvetica Neue"/>
              </a:rPr>
              <a:t>We believe we will </a:t>
            </a:r>
            <a:r>
              <a:rPr lang="en-US" sz="650">
                <a:latin typeface="Helvetica Neue"/>
                <a:cs typeface="Helvetica Neue"/>
              </a:rPr>
              <a:t>achieve an 80% reduction in audit-preparation time </a:t>
            </a:r>
            <a:r>
              <a:rPr lang="en-US" sz="650" b="1" dirty="0">
                <a:latin typeface="Helvetica Neue"/>
                <a:cs typeface="Helvetica Neue"/>
              </a:rPr>
              <a:t>if </a:t>
            </a:r>
            <a:r>
              <a:rPr lang="en-US" sz="650" dirty="0">
                <a:latin typeface="Helvetica Neue"/>
                <a:cs typeface="Helvetica Neue"/>
              </a:rPr>
              <a:t>QA/QC specialists </a:t>
            </a:r>
            <a:r>
              <a:rPr lang="en-US" sz="650" b="1" dirty="0">
                <a:latin typeface="Helvetica Neue"/>
                <a:cs typeface="Helvetica Neue"/>
              </a:rPr>
              <a:t>attain </a:t>
            </a:r>
            <a:r>
              <a:rPr lang="en-US" sz="650" dirty="0">
                <a:latin typeface="Helvetica Neue"/>
                <a:cs typeface="Helvetica Neue"/>
              </a:rPr>
              <a:t>audit evidence compiled automatically for any date range or batch </a:t>
            </a:r>
            <a:r>
              <a:rPr lang="en-US" sz="650" b="1" dirty="0">
                <a:latin typeface="Helvetica Neue"/>
                <a:cs typeface="Helvetica Neue"/>
              </a:rPr>
              <a:t>with </a:t>
            </a:r>
            <a:r>
              <a:rPr lang="en-US" sz="650" dirty="0">
                <a:latin typeface="Helvetica Neue"/>
                <a:cs typeface="Helvetica Neue"/>
              </a:rPr>
              <a:t>automatic generation of audit-ready reports and evidence packages.</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daily use of the platform by at least 70% of registered users </a:t>
            </a:r>
            <a:r>
              <a:rPr lang="en-US" sz="650" b="1" dirty="0">
                <a:latin typeface="Helvetica Neue"/>
                <a:cs typeface="Helvetica Neue"/>
              </a:rPr>
              <a:t>if </a:t>
            </a:r>
            <a:r>
              <a:rPr lang="en-US" sz="650" dirty="0">
                <a:latin typeface="Helvetica Neue"/>
                <a:cs typeface="Helvetica Neue"/>
              </a:rPr>
              <a:t>QA/QC specialists and production supervisors </a:t>
            </a:r>
            <a:r>
              <a:rPr lang="en-US" sz="650" b="1" dirty="0">
                <a:latin typeface="Helvetica Neue"/>
                <a:cs typeface="Helvetica Neue"/>
              </a:rPr>
              <a:t>attain </a:t>
            </a:r>
            <a:r>
              <a:rPr lang="en-US" sz="650" dirty="0">
                <a:latin typeface="Helvetica Neue"/>
                <a:cs typeface="Helvetica Neue"/>
              </a:rPr>
              <a:t>an updated view of batch status, open deviations and compliance indicators </a:t>
            </a:r>
            <a:r>
              <a:rPr lang="en-US" sz="650" b="1" dirty="0">
                <a:latin typeface="Helvetica Neue"/>
                <a:cs typeface="Helvetica Neue"/>
              </a:rPr>
              <a:t>with </a:t>
            </a:r>
            <a:r>
              <a:rPr lang="en-US" sz="650" dirty="0">
                <a:latin typeface="Helvetica Neue"/>
                <a:cs typeface="Helvetica Neue"/>
              </a:rPr>
              <a:t>role-based quality and production dashboards.</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zero manual transcription errors in plant records during the first quarter of implementation </a:t>
            </a:r>
            <a:r>
              <a:rPr lang="en-US" sz="650" b="1" dirty="0">
                <a:latin typeface="Helvetica Neue"/>
                <a:cs typeface="Helvetica Neue"/>
              </a:rPr>
              <a:t>if</a:t>
            </a:r>
            <a:r>
              <a:rPr lang="en-US" sz="650" dirty="0">
                <a:latin typeface="Helvetica Neue"/>
                <a:cs typeface="Helvetica Neue"/>
              </a:rPr>
              <a:t> production supervisors and QA/QC specialists </a:t>
            </a:r>
            <a:r>
              <a:rPr lang="en-US" sz="650" b="1" dirty="0">
                <a:latin typeface="Helvetica Neue"/>
                <a:cs typeface="Helvetica Neue"/>
              </a:rPr>
              <a:t>attain</a:t>
            </a:r>
            <a:r>
              <a:rPr lang="en-US" sz="650" dirty="0">
                <a:latin typeface="Helvetica Neue"/>
                <a:cs typeface="Helvetica Neue"/>
              </a:rPr>
              <a:t> critical process variables automatically linked to each batch, </a:t>
            </a:r>
            <a:r>
              <a:rPr lang="en-US" sz="650" b="1" dirty="0">
                <a:latin typeface="Helvetica Neue"/>
                <a:cs typeface="Helvetica Neue"/>
              </a:rPr>
              <a:t>with</a:t>
            </a:r>
            <a:r>
              <a:rPr lang="en-US" sz="650" dirty="0">
                <a:latin typeface="Helvetica Neue"/>
                <a:cs typeface="Helvetica Neue"/>
              </a:rPr>
              <a:t> early alerts with IoT sensor data integration and alerting.</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a 40% reduction in the waiting time for quality approvals during manufacturing </a:t>
            </a:r>
            <a:r>
              <a:rPr lang="en-US" sz="650" b="1" dirty="0">
                <a:latin typeface="Helvetica Neue"/>
                <a:cs typeface="Helvetica Neue"/>
              </a:rPr>
              <a:t>if</a:t>
            </a:r>
            <a:r>
              <a:rPr lang="en-US" sz="650" dirty="0">
                <a:latin typeface="Helvetica Neue"/>
                <a:cs typeface="Helvetica Neue"/>
              </a:rPr>
              <a:t> production supervisors and QA/QC specialists </a:t>
            </a:r>
            <a:r>
              <a:rPr lang="en-US" sz="650" b="1" dirty="0">
                <a:latin typeface="Helvetica Neue"/>
                <a:cs typeface="Helvetica Neue"/>
              </a:rPr>
              <a:t>attain</a:t>
            </a:r>
            <a:r>
              <a:rPr lang="en-US" sz="650" dirty="0">
                <a:latin typeface="Helvetica Neue"/>
                <a:cs typeface="Helvetica Neue"/>
              </a:rPr>
              <a:t> direct and trackable communication of approval requests between </a:t>
            </a:r>
            <a:r>
              <a:rPr lang="en-US" sz="650" dirty="0" err="1">
                <a:latin typeface="Helvetica Neue"/>
                <a:cs typeface="Helvetica Neue"/>
              </a:rPr>
              <a:t>áreas</a:t>
            </a:r>
            <a:r>
              <a:rPr lang="en-US" sz="650" dirty="0">
                <a:latin typeface="Helvetica Neue"/>
                <a:cs typeface="Helvetica Neue"/>
              </a:rPr>
              <a:t> </a:t>
            </a:r>
            <a:r>
              <a:rPr lang="en-US" sz="650" b="1" dirty="0">
                <a:latin typeface="Helvetica Neue"/>
                <a:cs typeface="Helvetica Neue"/>
              </a:rPr>
              <a:t>with</a:t>
            </a:r>
            <a:r>
              <a:rPr lang="en-US" sz="650" dirty="0">
                <a:latin typeface="Helvetica Neue"/>
                <a:cs typeface="Helvetica Neue"/>
              </a:rPr>
              <a:t> approval requests and notifications between Production and Quality.</a:t>
            </a:r>
          </a:p>
          <a:p>
            <a:pPr marL="228600" indent="-228600" algn="just">
              <a:buFont typeface="+mj-lt"/>
              <a:buAutoNum type="arabicPeriod"/>
              <a:defRPr/>
            </a:pPr>
            <a:r>
              <a:rPr lang="en-US" sz="650" b="1" dirty="0">
                <a:latin typeface="Helvetica Neue"/>
                <a:cs typeface="Helvetica Neue"/>
              </a:rPr>
              <a:t>We believe we will </a:t>
            </a:r>
            <a:r>
              <a:rPr lang="en-US" sz="650" dirty="0">
                <a:latin typeface="Helvetica Neue"/>
                <a:cs typeface="Helvetica Neue"/>
              </a:rPr>
              <a:t>achieve 100% of DIGEMID traceability audits passed without critical observations during the first year </a:t>
            </a:r>
            <a:r>
              <a:rPr lang="en-US" sz="650" b="1" dirty="0">
                <a:latin typeface="Helvetica Neue"/>
                <a:cs typeface="Helvetica Neue"/>
              </a:rPr>
              <a:t>if</a:t>
            </a:r>
            <a:r>
              <a:rPr lang="en-US" sz="650" dirty="0">
                <a:latin typeface="Helvetica Neue"/>
                <a:cs typeface="Helvetica Neue"/>
              </a:rPr>
              <a:t> QA/QC specialists and internal auditors </a:t>
            </a:r>
            <a:r>
              <a:rPr lang="en-US" sz="650" b="1" dirty="0">
                <a:latin typeface="Helvetica Neue"/>
                <a:cs typeface="Helvetica Neue"/>
              </a:rPr>
              <a:t>attain</a:t>
            </a:r>
            <a:r>
              <a:rPr lang="en-US" sz="650" dirty="0">
                <a:latin typeface="Helvetica Neue"/>
                <a:cs typeface="Helvetica Neue"/>
              </a:rPr>
              <a:t> confidence that every change is recorded with who, when, what and why </a:t>
            </a:r>
            <a:r>
              <a:rPr lang="en-US" sz="650" b="1" dirty="0">
                <a:latin typeface="Helvetica Neue"/>
                <a:cs typeface="Helvetica Neue"/>
              </a:rPr>
              <a:t>with</a:t>
            </a:r>
            <a:r>
              <a:rPr lang="en-US" sz="650" dirty="0">
                <a:latin typeface="Helvetica Neue"/>
                <a:cs typeface="Helvetica Neue"/>
              </a:rPr>
              <a:t> an immutable audit trail with electronic signatures.</a:t>
            </a:r>
          </a:p>
        </p:txBody>
      </p:sp>
      <p:sp>
        <p:nvSpPr>
          <p:cNvPr id="9" name="Rectangle 8"/>
          <p:cNvSpPr/>
          <p:nvPr/>
        </p:nvSpPr>
        <p:spPr bwMode="auto">
          <a:xfrm>
            <a:off x="9677399" y="7010400"/>
            <a:ext cx="5419726" cy="27305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least amount of work we need to do to learn the next most important thing?</a:t>
            </a:r>
          </a:p>
          <a:p>
            <a:pPr marL="171450" indent="-171450" algn="just">
              <a:buFont typeface="Arial" panose="020B0604020202020204" pitchFamily="34" charset="0"/>
              <a:buChar char="•"/>
              <a:defRPr/>
            </a:pPr>
            <a:r>
              <a:rPr lang="en-US" sz="700" b="1" i="1" dirty="0">
                <a:latin typeface="Helvetica Neue"/>
              </a:rPr>
              <a:t>Experiment 1 – Landing Page Validation</a:t>
            </a:r>
          </a:p>
          <a:p>
            <a:pPr lvl="1" algn="just">
              <a:defRPr/>
            </a:pPr>
            <a:r>
              <a:rPr lang="en-US" sz="700" b="1" dirty="0">
                <a:latin typeface="Helvetica Neue"/>
              </a:rPr>
              <a:t>MVP: </a:t>
            </a:r>
            <a:r>
              <a:rPr lang="en-US" sz="700" dirty="0">
                <a:latin typeface="Helvetica Neue"/>
              </a:rPr>
              <a:t>A bilingual landing page focused on pharmaceutical quality management, GMP compliance, traceability, and audit readiness.</a:t>
            </a:r>
          </a:p>
          <a:p>
            <a:pPr lvl="1" algn="just">
              <a:defRPr/>
            </a:pPr>
            <a:r>
              <a:rPr lang="en-US" sz="700" b="1" dirty="0">
                <a:latin typeface="Helvetica Neue"/>
              </a:rPr>
              <a:t>Metric: </a:t>
            </a:r>
            <a:r>
              <a:rPr lang="en-US" sz="700" dirty="0">
                <a:latin typeface="Helvetica Neue"/>
              </a:rPr>
              <a:t>Number of demo requests, contact submissions, and interview participants recruited.</a:t>
            </a:r>
          </a:p>
          <a:p>
            <a:pPr marL="171450" indent="-171450" algn="just">
              <a:buFont typeface="Arial" panose="020B0604020202020204" pitchFamily="34" charset="0"/>
              <a:buChar char="•"/>
              <a:defRPr/>
            </a:pPr>
            <a:r>
              <a:rPr lang="en-US" sz="700" b="1" i="1" dirty="0">
                <a:latin typeface="Helvetica Neue"/>
              </a:rPr>
              <a:t>Experiment 2: Quality Documentation Prototype</a:t>
            </a:r>
          </a:p>
          <a:p>
            <a:pPr lvl="1" algn="just">
              <a:defRPr/>
            </a:pPr>
            <a:r>
              <a:rPr lang="en-US" sz="700" b="1" dirty="0">
                <a:latin typeface="Helvetica Neue"/>
              </a:rPr>
              <a:t>MVP: </a:t>
            </a:r>
            <a:r>
              <a:rPr lang="en-US" sz="700" dirty="0">
                <a:latin typeface="Helvetica Neue"/>
              </a:rPr>
              <a:t>Interactive prototype demonstrating SOP and quality-document management workflows.</a:t>
            </a:r>
          </a:p>
          <a:p>
            <a:pPr lvl="1" algn="just">
              <a:defRPr/>
            </a:pPr>
            <a:r>
              <a:rPr lang="en-US" sz="700" b="1" dirty="0">
                <a:latin typeface="Helvetica Neue"/>
              </a:rPr>
              <a:t>Metric: </a:t>
            </a:r>
            <a:r>
              <a:rPr lang="en-US" sz="700" dirty="0">
                <a:latin typeface="Helvetica Neue"/>
              </a:rPr>
              <a:t>Average time required to locate a document and perceived usefulness.</a:t>
            </a:r>
          </a:p>
          <a:p>
            <a:pPr marL="171450" indent="-171450" algn="just">
              <a:buFont typeface="Arial" panose="020B0604020202020204" pitchFamily="34" charset="0"/>
              <a:buChar char="•"/>
              <a:defRPr/>
            </a:pPr>
            <a:r>
              <a:rPr lang="en-US" sz="700" b="1" i="1" dirty="0">
                <a:latin typeface="Helvetica Neue"/>
              </a:rPr>
              <a:t>Experiment 3: Batch Traceability Prototype</a:t>
            </a:r>
          </a:p>
          <a:p>
            <a:pPr lvl="1" algn="just">
              <a:defRPr/>
            </a:pPr>
            <a:r>
              <a:rPr lang="en-US" sz="700" b="1" dirty="0">
                <a:latin typeface="Helvetica Neue"/>
              </a:rPr>
              <a:t>MVP: </a:t>
            </a:r>
            <a:r>
              <a:rPr lang="en-US" sz="700" dirty="0">
                <a:latin typeface="Helvetica Neue"/>
              </a:rPr>
              <a:t>Interactive dashboard showing the complete lifecycle and traceability timeline of a pharmaceutical batch.</a:t>
            </a:r>
          </a:p>
          <a:p>
            <a:pPr lvl="1" algn="just">
              <a:defRPr/>
            </a:pPr>
            <a:r>
              <a:rPr lang="en-US" sz="700" b="1" dirty="0">
                <a:latin typeface="Helvetica Neue"/>
              </a:rPr>
              <a:t>Metric: </a:t>
            </a:r>
            <a:r>
              <a:rPr lang="en-US" sz="700" dirty="0">
                <a:latin typeface="Helvetica Neue"/>
              </a:rPr>
              <a:t>Task completion rate and user satisfaction during testing sessions.</a:t>
            </a:r>
          </a:p>
          <a:p>
            <a:pPr marL="171450" indent="-171450" algn="just">
              <a:buFont typeface="Arial" panose="020B0604020202020204" pitchFamily="34" charset="0"/>
              <a:buChar char="•"/>
              <a:defRPr/>
            </a:pPr>
            <a:r>
              <a:rPr lang="en-US" sz="700" b="1" i="1" dirty="0">
                <a:latin typeface="Helvetica Neue"/>
              </a:rPr>
              <a:t>Experiment 4: Deviation &amp; CAPA Validation</a:t>
            </a:r>
          </a:p>
          <a:p>
            <a:pPr lvl="1" algn="just">
              <a:defRPr/>
            </a:pPr>
            <a:r>
              <a:rPr lang="en-US" sz="700" b="1" i="1" dirty="0">
                <a:latin typeface="Helvetica Neue"/>
              </a:rPr>
              <a:t>MVP: </a:t>
            </a:r>
            <a:r>
              <a:rPr lang="en-US" sz="700" dirty="0">
                <a:latin typeface="Helvetica Neue"/>
              </a:rPr>
              <a:t>Clickable workflow for registering, investigating, and closing deviations.</a:t>
            </a:r>
          </a:p>
          <a:p>
            <a:pPr lvl="1" algn="just">
              <a:defRPr/>
            </a:pPr>
            <a:r>
              <a:rPr lang="en-US" sz="700" b="1" i="1" dirty="0">
                <a:latin typeface="Helvetica Neue"/>
              </a:rPr>
              <a:t>Metric: </a:t>
            </a:r>
            <a:r>
              <a:rPr lang="en-US" sz="700" dirty="0">
                <a:latin typeface="Helvetica Neue"/>
              </a:rPr>
              <a:t>Workflow completion success rate and perceived ease of use.</a:t>
            </a:r>
          </a:p>
          <a:p>
            <a:pPr marL="171450" indent="-171450" algn="just">
              <a:buFont typeface="Arial" panose="020B0604020202020204" pitchFamily="34" charset="0"/>
              <a:buChar char="•"/>
              <a:defRPr/>
            </a:pPr>
            <a:r>
              <a:rPr lang="en-US" sz="700" b="1" i="1" dirty="0">
                <a:latin typeface="Helvetica Neue"/>
              </a:rPr>
              <a:t>Experiment 5: IoT Traceability Validation</a:t>
            </a:r>
          </a:p>
          <a:p>
            <a:pPr lvl="1" algn="just">
              <a:defRPr/>
            </a:pPr>
            <a:r>
              <a:rPr lang="en-US" sz="700" b="1" i="1" dirty="0">
                <a:latin typeface="Helvetica Neue"/>
              </a:rPr>
              <a:t>MVP: </a:t>
            </a:r>
            <a:r>
              <a:rPr lang="en-US" sz="700" dirty="0">
                <a:latin typeface="Helvetica Neue"/>
              </a:rPr>
              <a:t>Prototype connecting </a:t>
            </a:r>
            <a:r>
              <a:rPr lang="en-US" sz="700" dirty="0" err="1">
                <a:latin typeface="Helvetica Neue"/>
              </a:rPr>
              <a:t>ThingsBoard</a:t>
            </a:r>
            <a:r>
              <a:rPr lang="en-US" sz="700" dirty="0">
                <a:latin typeface="Helvetica Neue"/>
              </a:rPr>
              <a:t> sensor events to batch histories.</a:t>
            </a:r>
          </a:p>
          <a:p>
            <a:pPr lvl="1" algn="just">
              <a:defRPr/>
            </a:pPr>
            <a:r>
              <a:rPr lang="en-US" sz="700" b="1" i="1" dirty="0">
                <a:latin typeface="Helvetica Neue"/>
              </a:rPr>
              <a:t>Metric: </a:t>
            </a:r>
            <a:r>
              <a:rPr lang="en-US" sz="700" dirty="0">
                <a:latin typeface="Helvetica Neue"/>
              </a:rPr>
              <a:t>Perceived value, adoption intention, and usefulness ratings.</a:t>
            </a:r>
          </a:p>
        </p:txBody>
      </p:sp>
      <p:sp>
        <p:nvSpPr>
          <p:cNvPr id="12" name="Rectangle 11"/>
          <p:cNvSpPr/>
          <p:nvPr/>
        </p:nvSpPr>
        <p:spPr bwMode="auto">
          <a:xfrm>
            <a:off x="457201" y="1059656"/>
            <a:ext cx="5410200" cy="27432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Problem</a:t>
            </a:r>
          </a:p>
          <a:p>
            <a:pPr algn="just">
              <a:defRPr/>
            </a:pPr>
            <a:r>
              <a:rPr lang="es-PE" sz="800" b="1" i="1" dirty="0">
                <a:latin typeface="Helvetica Neue"/>
              </a:rPr>
              <a:t>The </a:t>
            </a:r>
            <a:r>
              <a:rPr lang="es-PE" sz="800" b="1" i="1" dirty="0" err="1">
                <a:latin typeface="Helvetica Neue"/>
              </a:rPr>
              <a:t>current</a:t>
            </a:r>
            <a:r>
              <a:rPr lang="es-PE" sz="800" b="1" i="1" dirty="0">
                <a:latin typeface="Helvetica Neue"/>
              </a:rPr>
              <a:t> </a:t>
            </a:r>
            <a:r>
              <a:rPr lang="es-PE" sz="800" b="1" i="1" dirty="0" err="1">
                <a:latin typeface="Helvetica Neue"/>
              </a:rPr>
              <a:t>state</a:t>
            </a:r>
            <a:r>
              <a:rPr lang="es-PE" sz="800" b="1" i="1" dirty="0">
                <a:latin typeface="Helvetica Neue"/>
              </a:rPr>
              <a:t> </a:t>
            </a:r>
            <a:r>
              <a:rPr lang="es-PE" sz="800" b="1" i="1" dirty="0" err="1">
                <a:latin typeface="Helvetica Neue"/>
              </a:rPr>
              <a:t>of</a:t>
            </a:r>
            <a:r>
              <a:rPr lang="es-PE" sz="800" b="1" i="1" dirty="0">
                <a:latin typeface="Helvetica Neue"/>
              </a:rPr>
              <a:t> </a:t>
            </a:r>
            <a:r>
              <a:rPr lang="es-PE" sz="800" dirty="0" err="1">
                <a:latin typeface="Helvetica Neue"/>
              </a:rPr>
              <a:t>pharmaceutical</a:t>
            </a:r>
            <a:r>
              <a:rPr lang="es-PE" sz="800"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assurance</a:t>
            </a:r>
            <a:r>
              <a:rPr lang="es-PE" sz="800" dirty="0">
                <a:latin typeface="Helvetica Neue"/>
              </a:rPr>
              <a:t> in </a:t>
            </a:r>
            <a:r>
              <a:rPr lang="es-PE" sz="800" dirty="0" err="1">
                <a:latin typeface="Helvetica Neue"/>
              </a:rPr>
              <a:t>small</a:t>
            </a:r>
            <a:r>
              <a:rPr lang="es-PE" sz="800" dirty="0">
                <a:latin typeface="Helvetica Neue"/>
              </a:rPr>
              <a:t> and </a:t>
            </a:r>
            <a:r>
              <a:rPr lang="es-PE" sz="800" dirty="0" err="1">
                <a:latin typeface="Helvetica Neue"/>
              </a:rPr>
              <a:t>medium-sized</a:t>
            </a:r>
            <a:r>
              <a:rPr lang="es-PE" sz="800" dirty="0">
                <a:latin typeface="Helvetica Neue"/>
              </a:rPr>
              <a:t> Peruvian </a:t>
            </a:r>
            <a:r>
              <a:rPr lang="es-PE" sz="800" dirty="0" err="1">
                <a:latin typeface="Helvetica Neue"/>
              </a:rPr>
              <a:t>laboratories</a:t>
            </a:r>
            <a:r>
              <a:rPr lang="es-PE" sz="800" dirty="0">
                <a:latin typeface="Helvetica Neue"/>
              </a:rPr>
              <a:t> </a:t>
            </a:r>
            <a:r>
              <a:rPr lang="es-PE" sz="800" b="1" i="1" dirty="0">
                <a:latin typeface="Helvetica Neue"/>
              </a:rPr>
              <a:t>has </a:t>
            </a:r>
            <a:r>
              <a:rPr lang="es-PE" sz="800" b="1" i="1" dirty="0" err="1">
                <a:latin typeface="Helvetica Neue"/>
              </a:rPr>
              <a:t>focused</a:t>
            </a:r>
            <a:r>
              <a:rPr lang="es-PE" sz="800" b="1" i="1" dirty="0">
                <a:latin typeface="Helvetica Neue"/>
              </a:rPr>
              <a:t> </a:t>
            </a:r>
            <a:r>
              <a:rPr lang="es-PE" sz="800" b="1" i="1" dirty="0" err="1">
                <a:latin typeface="Helvetica Neue"/>
              </a:rPr>
              <a:t>mainly</a:t>
            </a:r>
            <a:r>
              <a:rPr lang="es-PE" sz="800" b="1" i="1" dirty="0">
                <a:latin typeface="Helvetica Neue"/>
              </a:rPr>
              <a:t> </a:t>
            </a:r>
            <a:r>
              <a:rPr lang="es-PE" sz="800" b="1" i="1" dirty="0" err="1">
                <a:latin typeface="Helvetica Neue"/>
              </a:rPr>
              <a:t>on</a:t>
            </a:r>
            <a:r>
              <a:rPr lang="es-PE" sz="800" b="1" i="1"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assurance</a:t>
            </a:r>
            <a:r>
              <a:rPr lang="es-PE" sz="800" dirty="0">
                <a:latin typeface="Helvetica Neue"/>
              </a:rPr>
              <a:t> and </a:t>
            </a:r>
            <a:r>
              <a:rPr lang="es-PE" sz="800" dirty="0" err="1">
                <a:latin typeface="Helvetica Neue"/>
              </a:rPr>
              <a:t>quality</a:t>
            </a:r>
            <a:r>
              <a:rPr lang="es-PE" sz="800" dirty="0">
                <a:latin typeface="Helvetica Neue"/>
              </a:rPr>
              <a:t> control (QA/QC) </a:t>
            </a:r>
            <a:r>
              <a:rPr lang="es-PE" sz="800" dirty="0" err="1">
                <a:latin typeface="Helvetica Neue"/>
              </a:rPr>
              <a:t>specialists</a:t>
            </a:r>
            <a:r>
              <a:rPr lang="es-PE" sz="800" dirty="0">
                <a:latin typeface="Helvetica Neue"/>
              </a:rPr>
              <a:t> and </a:t>
            </a:r>
            <a:r>
              <a:rPr lang="es-PE" sz="800" dirty="0" err="1">
                <a:latin typeface="Helvetica Neue"/>
              </a:rPr>
              <a:t>production</a:t>
            </a:r>
            <a:r>
              <a:rPr lang="es-PE" sz="800" dirty="0">
                <a:latin typeface="Helvetica Neue"/>
              </a:rPr>
              <a:t> </a:t>
            </a:r>
            <a:r>
              <a:rPr lang="es-PE" sz="800" dirty="0" err="1">
                <a:latin typeface="Helvetica Neue"/>
              </a:rPr>
              <a:t>supervisors</a:t>
            </a:r>
            <a:r>
              <a:rPr lang="es-PE" sz="800" dirty="0">
                <a:latin typeface="Helvetica Neue"/>
              </a:rPr>
              <a:t>, </a:t>
            </a:r>
            <a:r>
              <a:rPr lang="es-PE" sz="800" dirty="0" err="1">
                <a:latin typeface="Helvetica Neue"/>
              </a:rPr>
              <a:t>who</a:t>
            </a:r>
            <a:r>
              <a:rPr lang="es-PE" sz="800" dirty="0">
                <a:latin typeface="Helvetica Neue"/>
              </a:rPr>
              <a:t> </a:t>
            </a:r>
            <a:r>
              <a:rPr lang="es-PE" sz="800" dirty="0" err="1">
                <a:latin typeface="Helvetica Neue"/>
              </a:rPr>
              <a:t>keep</a:t>
            </a:r>
            <a:r>
              <a:rPr lang="es-PE" sz="800" dirty="0">
                <a:latin typeface="Helvetica Neue"/>
              </a:rPr>
              <a:t> </a:t>
            </a:r>
            <a:r>
              <a:rPr lang="es-PE" sz="800" dirty="0" err="1">
                <a:latin typeface="Helvetica Neue"/>
              </a:rPr>
              <a:t>protocols</a:t>
            </a:r>
            <a:r>
              <a:rPr lang="es-PE" sz="800" dirty="0">
                <a:latin typeface="Helvetica Neue"/>
              </a:rPr>
              <a:t>, </a:t>
            </a:r>
            <a:r>
              <a:rPr lang="es-PE" sz="800" dirty="0" err="1">
                <a:latin typeface="Helvetica Neue"/>
              </a:rPr>
              <a:t>batch</a:t>
            </a:r>
            <a:r>
              <a:rPr lang="es-PE" sz="800" dirty="0">
                <a:latin typeface="Helvetica Neue"/>
              </a:rPr>
              <a:t> </a:t>
            </a:r>
            <a:r>
              <a:rPr lang="es-PE" sz="800" dirty="0" err="1">
                <a:latin typeface="Helvetica Neue"/>
              </a:rPr>
              <a:t>records</a:t>
            </a:r>
            <a:r>
              <a:rPr lang="es-PE" sz="800" dirty="0">
                <a:latin typeface="Helvetica Neue"/>
              </a:rPr>
              <a:t>, </a:t>
            </a:r>
            <a:r>
              <a:rPr lang="es-PE" sz="800" dirty="0" err="1">
                <a:latin typeface="Helvetica Neue"/>
              </a:rPr>
              <a:t>deviation</a:t>
            </a:r>
            <a:r>
              <a:rPr lang="es-PE" sz="800" dirty="0">
                <a:latin typeface="Helvetica Neue"/>
              </a:rPr>
              <a:t> </a:t>
            </a:r>
            <a:r>
              <a:rPr lang="es-PE" sz="800" dirty="0" err="1">
                <a:latin typeface="Helvetica Neue"/>
              </a:rPr>
              <a:t>reports</a:t>
            </a:r>
            <a:r>
              <a:rPr lang="es-PE" sz="800" dirty="0">
                <a:latin typeface="Helvetica Neue"/>
              </a:rPr>
              <a:t> and </a:t>
            </a:r>
            <a:r>
              <a:rPr lang="es-PE" sz="800" dirty="0" err="1">
                <a:latin typeface="Helvetica Neue"/>
              </a:rPr>
              <a:t>audit</a:t>
            </a:r>
            <a:r>
              <a:rPr lang="es-PE" sz="800" dirty="0">
                <a:latin typeface="Helvetica Neue"/>
              </a:rPr>
              <a:t> </a:t>
            </a:r>
            <a:r>
              <a:rPr lang="es-PE" sz="800" dirty="0" err="1">
                <a:latin typeface="Helvetica Neue"/>
              </a:rPr>
              <a:t>evidence</a:t>
            </a:r>
            <a:r>
              <a:rPr lang="es-PE" sz="800" dirty="0">
                <a:latin typeface="Helvetica Neue"/>
              </a:rPr>
              <a:t> in </a:t>
            </a:r>
            <a:r>
              <a:rPr lang="es-PE" sz="800" dirty="0" err="1">
                <a:latin typeface="Helvetica Neue"/>
              </a:rPr>
              <a:t>paper</a:t>
            </a:r>
            <a:r>
              <a:rPr lang="es-PE" sz="800" dirty="0">
                <a:latin typeface="Helvetica Neue"/>
              </a:rPr>
              <a:t> </a:t>
            </a:r>
            <a:r>
              <a:rPr lang="es-PE" sz="800" dirty="0" err="1">
                <a:latin typeface="Helvetica Neue"/>
              </a:rPr>
              <a:t>forms</a:t>
            </a:r>
            <a:r>
              <a:rPr lang="es-PE" sz="800" dirty="0">
                <a:latin typeface="Helvetica Neue"/>
              </a:rPr>
              <a:t>, </a:t>
            </a:r>
            <a:r>
              <a:rPr lang="es-PE" sz="800" dirty="0" err="1">
                <a:latin typeface="Helvetica Neue"/>
              </a:rPr>
              <a:t>spreadsheets</a:t>
            </a:r>
            <a:r>
              <a:rPr lang="es-PE" sz="800" dirty="0">
                <a:latin typeface="Helvetica Neue"/>
              </a:rPr>
              <a:t> and e-mail </a:t>
            </a:r>
            <a:r>
              <a:rPr lang="es-PE" sz="800" dirty="0" err="1">
                <a:latin typeface="Helvetica Neue"/>
              </a:rPr>
              <a:t>threads</a:t>
            </a:r>
            <a:r>
              <a:rPr lang="es-PE" sz="800" dirty="0">
                <a:latin typeface="Helvetica Neue"/>
              </a:rPr>
              <a:t>, </a:t>
            </a:r>
            <a:r>
              <a:rPr lang="es-PE" sz="800" dirty="0" err="1">
                <a:latin typeface="Helvetica Neue"/>
              </a:rPr>
              <a:t>while</a:t>
            </a:r>
            <a:r>
              <a:rPr lang="es-PE" sz="800" dirty="0">
                <a:latin typeface="Helvetica Neue"/>
              </a:rPr>
              <a:t> DIGEMID Good </a:t>
            </a:r>
            <a:r>
              <a:rPr lang="es-PE" sz="800" dirty="0" err="1">
                <a:latin typeface="Helvetica Neue"/>
              </a:rPr>
              <a:t>Manufacturing</a:t>
            </a:r>
            <a:r>
              <a:rPr lang="es-PE" sz="800" dirty="0">
                <a:latin typeface="Helvetica Neue"/>
              </a:rPr>
              <a:t> </a:t>
            </a:r>
            <a:r>
              <a:rPr lang="es-PE" sz="800" dirty="0" err="1">
                <a:latin typeface="Helvetica Neue"/>
              </a:rPr>
              <a:t>Practices</a:t>
            </a:r>
            <a:r>
              <a:rPr lang="es-PE" sz="800" dirty="0">
                <a:latin typeface="Helvetica Neue"/>
              </a:rPr>
              <a:t> (GMP) </a:t>
            </a:r>
            <a:r>
              <a:rPr lang="es-PE" sz="800" dirty="0" err="1">
                <a:latin typeface="Helvetica Neue"/>
              </a:rPr>
              <a:t>inspections</a:t>
            </a:r>
            <a:r>
              <a:rPr lang="es-PE" sz="800" dirty="0">
                <a:latin typeface="Helvetica Neue"/>
              </a:rPr>
              <a:t> </a:t>
            </a:r>
            <a:r>
              <a:rPr lang="es-PE" sz="800" dirty="0" err="1">
                <a:latin typeface="Helvetica Neue"/>
              </a:rPr>
              <a:t>demand</a:t>
            </a:r>
            <a:r>
              <a:rPr lang="es-PE" sz="800" dirty="0">
                <a:latin typeface="Helvetica Neue"/>
              </a:rPr>
              <a:t> complete, </a:t>
            </a:r>
            <a:r>
              <a:rPr lang="es-PE" sz="800" dirty="0" err="1">
                <a:latin typeface="Helvetica Neue"/>
              </a:rPr>
              <a:t>traceable</a:t>
            </a:r>
            <a:r>
              <a:rPr lang="es-PE" sz="800" dirty="0">
                <a:latin typeface="Helvetica Neue"/>
              </a:rPr>
              <a:t> and </a:t>
            </a:r>
            <a:r>
              <a:rPr lang="es-PE" sz="800" dirty="0" err="1">
                <a:latin typeface="Helvetica Neue"/>
              </a:rPr>
              <a:t>immediately</a:t>
            </a:r>
            <a:r>
              <a:rPr lang="es-PE" sz="800" dirty="0">
                <a:latin typeface="Helvetica Neue"/>
              </a:rPr>
              <a:t> </a:t>
            </a:r>
            <a:r>
              <a:rPr lang="es-PE" sz="800" dirty="0" err="1">
                <a:latin typeface="Helvetica Neue"/>
              </a:rPr>
              <a:t>available</a:t>
            </a:r>
            <a:r>
              <a:rPr lang="es-PE" sz="800" dirty="0">
                <a:latin typeface="Helvetica Neue"/>
              </a:rPr>
              <a:t> </a:t>
            </a:r>
            <a:r>
              <a:rPr lang="es-PE" sz="800" dirty="0" err="1">
                <a:latin typeface="Helvetica Neue"/>
              </a:rPr>
              <a:t>records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What</a:t>
            </a:r>
            <a:r>
              <a:rPr lang="es-PE" sz="800" b="1" i="1" dirty="0">
                <a:latin typeface="Helvetica Neue"/>
              </a:rPr>
              <a:t> </a:t>
            </a:r>
            <a:r>
              <a:rPr lang="es-PE" sz="800" b="1" i="1" dirty="0" err="1">
                <a:latin typeface="Helvetica Neue"/>
              </a:rPr>
              <a:t>existing</a:t>
            </a:r>
            <a:r>
              <a:rPr lang="es-PE" sz="800" b="1" i="1" dirty="0">
                <a:latin typeface="Helvetica Neue"/>
              </a:rPr>
              <a:t> </a:t>
            </a:r>
            <a:r>
              <a:rPr lang="es-PE" sz="800" b="1" i="1" dirty="0" err="1">
                <a:latin typeface="Helvetica Neue"/>
              </a:rPr>
              <a:t>products</a:t>
            </a:r>
            <a:r>
              <a:rPr lang="es-PE" sz="800" b="1" i="1" dirty="0">
                <a:latin typeface="Helvetica Neue"/>
              </a:rPr>
              <a:t> and </a:t>
            </a:r>
            <a:r>
              <a:rPr lang="es-PE" sz="800" b="1" i="1" dirty="0" err="1">
                <a:latin typeface="Helvetica Neue"/>
              </a:rPr>
              <a:t>approaches</a:t>
            </a:r>
            <a:r>
              <a:rPr lang="es-PE" sz="800" b="1" i="1" dirty="0">
                <a:latin typeface="Helvetica Neue"/>
              </a:rPr>
              <a:t> </a:t>
            </a:r>
            <a:r>
              <a:rPr lang="es-PE" sz="800" b="1" i="1" dirty="0" err="1">
                <a:latin typeface="Helvetica Neue"/>
              </a:rPr>
              <a:t>fail</a:t>
            </a:r>
            <a:r>
              <a:rPr lang="es-PE" sz="800" b="1" i="1" dirty="0">
                <a:latin typeface="Helvetica Neue"/>
              </a:rPr>
              <a:t> </a:t>
            </a:r>
            <a:r>
              <a:rPr lang="es-PE" sz="800" b="1" i="1" dirty="0" err="1">
                <a:latin typeface="Helvetica Neue"/>
              </a:rPr>
              <a:t>to</a:t>
            </a:r>
            <a:r>
              <a:rPr lang="es-PE" sz="800" b="1" i="1" dirty="0">
                <a:latin typeface="Helvetica Neue"/>
              </a:rPr>
              <a:t> </a:t>
            </a:r>
            <a:r>
              <a:rPr lang="es-PE" sz="800" b="1" i="1" dirty="0" err="1">
                <a:latin typeface="Helvetica Neue"/>
              </a:rPr>
              <a:t>address</a:t>
            </a:r>
            <a:r>
              <a:rPr lang="es-PE" sz="800" b="1" i="1" dirty="0">
                <a:latin typeface="Helvetica Neue"/>
              </a:rPr>
              <a:t> </a:t>
            </a:r>
            <a:r>
              <a:rPr lang="es-PE" sz="800" b="1" i="1" dirty="0" err="1">
                <a:latin typeface="Helvetica Neue"/>
              </a:rPr>
              <a:t>is</a:t>
            </a:r>
            <a:r>
              <a:rPr lang="es-PE" sz="800" b="1" i="1" dirty="0">
                <a:latin typeface="Helvetica Neue"/>
              </a:rPr>
              <a:t> </a:t>
            </a:r>
            <a:r>
              <a:rPr lang="es-PE" sz="800" dirty="0" err="1">
                <a:latin typeface="Helvetica Neue"/>
              </a:rPr>
              <a:t>an</a:t>
            </a:r>
            <a:r>
              <a:rPr lang="es-PE" sz="800" dirty="0">
                <a:latin typeface="Helvetica Neue"/>
              </a:rPr>
              <a:t> </a:t>
            </a:r>
            <a:r>
              <a:rPr lang="es-PE" sz="800" dirty="0" err="1">
                <a:latin typeface="Helvetica Neue"/>
              </a:rPr>
              <a:t>affordable</a:t>
            </a:r>
            <a:r>
              <a:rPr lang="es-PE" sz="800" dirty="0">
                <a:latin typeface="Helvetica Neue"/>
              </a:rPr>
              <a:t>, </a:t>
            </a:r>
            <a:r>
              <a:rPr lang="es-PE" sz="800" dirty="0" err="1">
                <a:latin typeface="Helvetica Neue"/>
              </a:rPr>
              <a:t>quality-centered</a:t>
            </a:r>
            <a:r>
              <a:rPr lang="es-PE" sz="800" dirty="0">
                <a:latin typeface="Helvetica Neue"/>
              </a:rPr>
              <a:t> </a:t>
            </a:r>
            <a:r>
              <a:rPr lang="es-PE" sz="800" dirty="0" err="1">
                <a:latin typeface="Helvetica Neue"/>
              </a:rPr>
              <a:t>platform</a:t>
            </a:r>
            <a:r>
              <a:rPr lang="es-PE" sz="800" dirty="0">
                <a:latin typeface="Helvetica Neue"/>
              </a:rPr>
              <a:t> </a:t>
            </a:r>
            <a:r>
              <a:rPr lang="es-PE" sz="800" dirty="0" err="1">
                <a:latin typeface="Helvetica Neue"/>
              </a:rPr>
              <a:t>for</a:t>
            </a:r>
            <a:r>
              <a:rPr lang="es-PE" sz="800" dirty="0">
                <a:latin typeface="Helvetica Neue"/>
              </a:rPr>
              <a:t> </a:t>
            </a:r>
            <a:r>
              <a:rPr lang="es-PE" sz="800" dirty="0" err="1">
                <a:latin typeface="Helvetica Neue"/>
              </a:rPr>
              <a:t>these</a:t>
            </a:r>
            <a:r>
              <a:rPr lang="es-PE" sz="800" dirty="0">
                <a:latin typeface="Helvetica Neue"/>
              </a:rPr>
              <a:t> </a:t>
            </a:r>
            <a:r>
              <a:rPr lang="es-PE" sz="800" dirty="0" err="1">
                <a:latin typeface="Helvetica Neue"/>
              </a:rPr>
              <a:t>laboratories</a:t>
            </a:r>
            <a:r>
              <a:rPr lang="es-PE" sz="800" dirty="0">
                <a:latin typeface="Helvetica Neue"/>
              </a:rPr>
              <a:t>: MES and OEE </a:t>
            </a:r>
            <a:r>
              <a:rPr lang="es-PE" sz="800" dirty="0" err="1">
                <a:latin typeface="Helvetica Neue"/>
              </a:rPr>
              <a:t>platforms</a:t>
            </a:r>
            <a:r>
              <a:rPr lang="es-PE" sz="800" dirty="0">
                <a:latin typeface="Helvetica Neue"/>
              </a:rPr>
              <a:t> </a:t>
            </a:r>
            <a:r>
              <a:rPr lang="es-PE" sz="800" dirty="0" err="1">
                <a:latin typeface="Helvetica Neue"/>
              </a:rPr>
              <a:t>focus</a:t>
            </a:r>
            <a:r>
              <a:rPr lang="es-PE" sz="800" dirty="0">
                <a:latin typeface="Helvetica Neue"/>
              </a:rPr>
              <a:t> </a:t>
            </a:r>
            <a:r>
              <a:rPr lang="es-PE" sz="800" dirty="0" err="1">
                <a:latin typeface="Helvetica Neue"/>
              </a:rPr>
              <a:t>on</a:t>
            </a:r>
            <a:r>
              <a:rPr lang="es-PE" sz="800" dirty="0">
                <a:latin typeface="Helvetica Neue"/>
              </a:rPr>
              <a:t> </a:t>
            </a:r>
            <a:r>
              <a:rPr lang="es-PE" sz="800" dirty="0" err="1">
                <a:latin typeface="Helvetica Neue"/>
              </a:rPr>
              <a:t>production</a:t>
            </a:r>
            <a:r>
              <a:rPr lang="es-PE" sz="800" dirty="0">
                <a:latin typeface="Helvetica Neue"/>
              </a:rPr>
              <a:t> </a:t>
            </a:r>
            <a:r>
              <a:rPr lang="es-PE" sz="800" dirty="0" err="1">
                <a:latin typeface="Helvetica Neue"/>
              </a:rPr>
              <a:t>efficiency</a:t>
            </a:r>
            <a:r>
              <a:rPr lang="es-PE" sz="800" dirty="0">
                <a:latin typeface="Helvetica Neue"/>
              </a:rPr>
              <a:t>, </a:t>
            </a:r>
            <a:r>
              <a:rPr lang="es-PE" sz="800" dirty="0" err="1">
                <a:latin typeface="Helvetica Neue"/>
              </a:rPr>
              <a:t>pharmacy</a:t>
            </a:r>
            <a:r>
              <a:rPr lang="es-PE" sz="800" dirty="0">
                <a:latin typeface="Helvetica Neue"/>
              </a:rPr>
              <a:t> ERPs </a:t>
            </a:r>
            <a:r>
              <a:rPr lang="es-PE" sz="800" dirty="0" err="1">
                <a:latin typeface="Helvetica Neue"/>
              </a:rPr>
              <a:t>focus</a:t>
            </a:r>
            <a:r>
              <a:rPr lang="es-PE" sz="800" dirty="0">
                <a:latin typeface="Helvetica Neue"/>
              </a:rPr>
              <a:t> </a:t>
            </a:r>
            <a:r>
              <a:rPr lang="es-PE" sz="800" dirty="0" err="1">
                <a:latin typeface="Helvetica Neue"/>
              </a:rPr>
              <a:t>on</a:t>
            </a:r>
            <a:r>
              <a:rPr lang="es-PE" sz="800" dirty="0">
                <a:latin typeface="Helvetica Neue"/>
              </a:rPr>
              <a:t> </a:t>
            </a:r>
            <a:r>
              <a:rPr lang="es-PE" sz="800" dirty="0" err="1">
                <a:latin typeface="Helvetica Neue"/>
              </a:rPr>
              <a:t>retail</a:t>
            </a:r>
            <a:r>
              <a:rPr lang="es-PE" sz="800" dirty="0">
                <a:latin typeface="Helvetica Neue"/>
              </a:rPr>
              <a:t> </a:t>
            </a:r>
            <a:r>
              <a:rPr lang="es-PE" sz="800" dirty="0" err="1">
                <a:latin typeface="Helvetica Neue"/>
              </a:rPr>
              <a:t>logistics</a:t>
            </a:r>
            <a:r>
              <a:rPr lang="es-PE" sz="800" dirty="0">
                <a:latin typeface="Helvetica Neue"/>
              </a:rPr>
              <a:t>, and </a:t>
            </a:r>
            <a:r>
              <a:rPr lang="es-PE" sz="800" dirty="0" err="1">
                <a:latin typeface="Helvetica Neue"/>
              </a:rPr>
              <a:t>serialization</a:t>
            </a:r>
            <a:r>
              <a:rPr lang="es-PE" sz="800" dirty="0">
                <a:latin typeface="Helvetica Neue"/>
              </a:rPr>
              <a:t> </a:t>
            </a:r>
            <a:r>
              <a:rPr lang="es-PE" sz="800" dirty="0" err="1">
                <a:latin typeface="Helvetica Neue"/>
              </a:rPr>
              <a:t>systems</a:t>
            </a:r>
            <a:r>
              <a:rPr lang="es-PE" sz="800" dirty="0">
                <a:latin typeface="Helvetica Neue"/>
              </a:rPr>
              <a:t> </a:t>
            </a:r>
            <a:r>
              <a:rPr lang="es-PE" sz="800" dirty="0" err="1">
                <a:latin typeface="Helvetica Neue"/>
              </a:rPr>
              <a:t>only</a:t>
            </a:r>
            <a:r>
              <a:rPr lang="es-PE" sz="800" dirty="0">
                <a:latin typeface="Helvetica Neue"/>
              </a:rPr>
              <a:t> </a:t>
            </a:r>
            <a:r>
              <a:rPr lang="es-PE" sz="800" dirty="0" err="1">
                <a:latin typeface="Helvetica Neue"/>
              </a:rPr>
              <a:t>cover</a:t>
            </a:r>
            <a:r>
              <a:rPr lang="es-PE" sz="800" dirty="0">
                <a:latin typeface="Helvetica Neue"/>
              </a:rPr>
              <a:t> </a:t>
            </a:r>
            <a:r>
              <a:rPr lang="es-PE" sz="800" dirty="0" err="1">
                <a:latin typeface="Helvetica Neue"/>
              </a:rPr>
              <a:t>packaging</a:t>
            </a:r>
            <a:r>
              <a:rPr lang="es-PE" sz="800" dirty="0">
                <a:latin typeface="Helvetica Neue"/>
              </a:rPr>
              <a:t> and </a:t>
            </a:r>
            <a:r>
              <a:rPr lang="es-PE" sz="800" dirty="0" err="1">
                <a:latin typeface="Helvetica Neue"/>
              </a:rPr>
              <a:t>distribution</a:t>
            </a:r>
            <a:r>
              <a:rPr lang="es-PE" sz="800" dirty="0">
                <a:latin typeface="Helvetica Neue"/>
              </a:rPr>
              <a:t>, so </a:t>
            </a:r>
            <a:r>
              <a:rPr lang="es-PE" sz="800" dirty="0" err="1">
                <a:latin typeface="Helvetica Neue"/>
              </a:rPr>
              <a:t>batch</a:t>
            </a:r>
            <a:r>
              <a:rPr lang="es-PE" sz="800" dirty="0">
                <a:latin typeface="Helvetica Neue"/>
              </a:rPr>
              <a:t> </a:t>
            </a:r>
            <a:r>
              <a:rPr lang="es-PE" sz="800" dirty="0" err="1">
                <a:latin typeface="Helvetica Neue"/>
              </a:rPr>
              <a:t>traceability</a:t>
            </a:r>
            <a:r>
              <a:rPr lang="es-PE" sz="800" dirty="0">
                <a:latin typeface="Helvetica Neue"/>
              </a:rPr>
              <a:t>, </a:t>
            </a:r>
            <a:r>
              <a:rPr lang="es-PE" sz="800" dirty="0" err="1">
                <a:latin typeface="Helvetica Neue"/>
              </a:rPr>
              <a:t>deviation</a:t>
            </a:r>
            <a:r>
              <a:rPr lang="es-PE" sz="800" dirty="0">
                <a:latin typeface="Helvetica Neue"/>
              </a:rPr>
              <a:t> and CAPA </a:t>
            </a:r>
            <a:r>
              <a:rPr lang="es-PE" sz="800" dirty="0" err="1">
                <a:latin typeface="Helvetica Neue"/>
              </a:rPr>
              <a:t>management</a:t>
            </a:r>
            <a:r>
              <a:rPr lang="es-PE" sz="800" dirty="0">
                <a:latin typeface="Helvetica Neue"/>
              </a:rPr>
              <a:t> and </a:t>
            </a:r>
            <a:r>
              <a:rPr lang="es-PE" sz="800" dirty="0" err="1">
                <a:latin typeface="Helvetica Neue"/>
              </a:rPr>
              <a:t>audit</a:t>
            </a:r>
            <a:r>
              <a:rPr lang="es-PE" sz="800" dirty="0">
                <a:latin typeface="Helvetica Neue"/>
              </a:rPr>
              <a:t> </a:t>
            </a:r>
            <a:r>
              <a:rPr lang="es-PE" sz="800" dirty="0" err="1">
                <a:latin typeface="Helvetica Neue"/>
              </a:rPr>
              <a:t>evidence</a:t>
            </a:r>
            <a:r>
              <a:rPr lang="es-PE" sz="800" dirty="0">
                <a:latin typeface="Helvetica Neue"/>
              </a:rPr>
              <a:t> </a:t>
            </a:r>
            <a:r>
              <a:rPr lang="es-PE" sz="800" dirty="0" err="1">
                <a:latin typeface="Helvetica Neue"/>
              </a:rPr>
              <a:t>remain</a:t>
            </a:r>
            <a:r>
              <a:rPr lang="es-PE" sz="800" dirty="0">
                <a:latin typeface="Helvetica Neue"/>
              </a:rPr>
              <a:t> </a:t>
            </a:r>
            <a:r>
              <a:rPr lang="es-PE" sz="800" dirty="0" err="1">
                <a:latin typeface="Helvetica Neue"/>
              </a:rPr>
              <a:t>fragmented</a:t>
            </a:r>
            <a:r>
              <a:rPr lang="es-PE" sz="800" dirty="0">
                <a:latin typeface="Helvetica Neue"/>
              </a:rPr>
              <a:t> </a:t>
            </a:r>
            <a:r>
              <a:rPr lang="es-PE" sz="800" dirty="0" err="1">
                <a:latin typeface="Helvetica Neue"/>
              </a:rPr>
              <a:t>across</a:t>
            </a:r>
            <a:r>
              <a:rPr lang="es-PE" sz="800" dirty="0">
                <a:latin typeface="Helvetica Neue"/>
              </a:rPr>
              <a:t> </a:t>
            </a:r>
            <a:r>
              <a:rPr lang="es-PE" sz="800" dirty="0" err="1">
                <a:latin typeface="Helvetica Neue"/>
              </a:rPr>
              <a:t>disconnected</a:t>
            </a:r>
            <a:r>
              <a:rPr lang="es-PE" sz="800" dirty="0">
                <a:latin typeface="Helvetica Neue"/>
              </a:rPr>
              <a:t> </a:t>
            </a:r>
            <a:r>
              <a:rPr lang="es-PE" sz="800" dirty="0" err="1">
                <a:latin typeface="Helvetica Neue"/>
              </a:rPr>
              <a:t>sources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Our</a:t>
            </a:r>
            <a:r>
              <a:rPr lang="es-PE" sz="800" b="1" i="1" dirty="0">
                <a:latin typeface="Helvetica Neue"/>
              </a:rPr>
              <a:t> </a:t>
            </a:r>
            <a:r>
              <a:rPr lang="es-PE" sz="800" b="1" i="1" dirty="0" err="1">
                <a:latin typeface="Helvetica Neue"/>
              </a:rPr>
              <a:t>product</a:t>
            </a:r>
            <a:r>
              <a:rPr lang="es-PE" sz="800" b="1" i="1" dirty="0">
                <a:latin typeface="Helvetica Neue"/>
              </a:rPr>
              <a:t> </a:t>
            </a:r>
            <a:r>
              <a:rPr lang="es-PE" sz="800" b="1" i="1" dirty="0" err="1">
                <a:latin typeface="Helvetica Neue"/>
              </a:rPr>
              <a:t>will</a:t>
            </a:r>
            <a:r>
              <a:rPr lang="es-PE" sz="800" b="1" i="1" dirty="0">
                <a:latin typeface="Helvetica Neue"/>
              </a:rPr>
              <a:t> </a:t>
            </a:r>
            <a:r>
              <a:rPr lang="es-PE" sz="800" b="1" i="1" dirty="0" err="1">
                <a:latin typeface="Helvetica Neue"/>
              </a:rPr>
              <a:t>address</a:t>
            </a:r>
            <a:r>
              <a:rPr lang="es-PE" sz="800" b="1" i="1" dirty="0">
                <a:latin typeface="Helvetica Neue"/>
              </a:rPr>
              <a:t> </a:t>
            </a:r>
            <a:r>
              <a:rPr lang="es-PE" sz="800" b="1" i="1" dirty="0" err="1">
                <a:latin typeface="Helvetica Neue"/>
              </a:rPr>
              <a:t>this</a:t>
            </a:r>
            <a:r>
              <a:rPr lang="es-PE" sz="800" b="1" i="1" dirty="0">
                <a:latin typeface="Helvetica Neue"/>
              </a:rPr>
              <a:t> gap </a:t>
            </a:r>
            <a:r>
              <a:rPr lang="es-PE" sz="800" b="1" i="1" dirty="0" err="1">
                <a:latin typeface="Helvetica Neue"/>
              </a:rPr>
              <a:t>by</a:t>
            </a:r>
            <a:r>
              <a:rPr lang="es-PE" sz="800" b="1" i="1" dirty="0">
                <a:latin typeface="Helvetica Neue"/>
              </a:rPr>
              <a:t> </a:t>
            </a:r>
            <a:r>
              <a:rPr lang="es-PE" sz="800" dirty="0" err="1">
                <a:latin typeface="Helvetica Neue"/>
              </a:rPr>
              <a:t>offering</a:t>
            </a:r>
            <a:r>
              <a:rPr lang="es-PE" sz="800" dirty="0">
                <a:latin typeface="Helvetica Neue"/>
              </a:rPr>
              <a:t> a </a:t>
            </a:r>
            <a:r>
              <a:rPr lang="es-PE" sz="800" dirty="0" err="1">
                <a:latin typeface="Helvetica Neue"/>
              </a:rPr>
              <a:t>bilingual</a:t>
            </a:r>
            <a:r>
              <a:rPr lang="es-PE" sz="800" dirty="0">
                <a:latin typeface="Helvetica Neue"/>
              </a:rPr>
              <a:t> (English/Spanish) SaaS web </a:t>
            </a:r>
            <a:r>
              <a:rPr lang="es-PE" sz="800" dirty="0" err="1">
                <a:latin typeface="Helvetica Neue"/>
              </a:rPr>
              <a:t>platform</a:t>
            </a:r>
            <a:r>
              <a:rPr lang="es-PE" sz="800" dirty="0">
                <a:latin typeface="Helvetica Neue"/>
              </a:rPr>
              <a:t> </a:t>
            </a:r>
            <a:r>
              <a:rPr lang="es-PE" sz="800" dirty="0" err="1">
                <a:latin typeface="Helvetica Neue"/>
              </a:rPr>
              <a:t>built</a:t>
            </a:r>
            <a:r>
              <a:rPr lang="es-PE" sz="800" dirty="0">
                <a:latin typeface="Helvetica Neue"/>
              </a:rPr>
              <a:t> </a:t>
            </a:r>
            <a:r>
              <a:rPr lang="es-PE" sz="800" dirty="0" err="1">
                <a:latin typeface="Helvetica Neue"/>
              </a:rPr>
              <a:t>on</a:t>
            </a:r>
            <a:r>
              <a:rPr lang="es-PE" sz="800" dirty="0">
                <a:latin typeface="Helvetica Neue"/>
              </a:rPr>
              <a:t> open-</a:t>
            </a:r>
            <a:r>
              <a:rPr lang="es-PE" sz="800" dirty="0" err="1">
                <a:latin typeface="Helvetica Neue"/>
              </a:rPr>
              <a:t>source</a:t>
            </a:r>
            <a:r>
              <a:rPr lang="es-PE" sz="800" dirty="0">
                <a:latin typeface="Helvetica Neue"/>
              </a:rPr>
              <a:t> </a:t>
            </a:r>
            <a:r>
              <a:rPr lang="es-PE" sz="800" dirty="0" err="1">
                <a:latin typeface="Helvetica Neue"/>
              </a:rPr>
              <a:t>technologies</a:t>
            </a:r>
            <a:r>
              <a:rPr lang="es-PE" sz="800" dirty="0">
                <a:latin typeface="Helvetica Neue"/>
              </a:rPr>
              <a:t> </a:t>
            </a:r>
            <a:r>
              <a:rPr lang="es-PE" sz="800" dirty="0" err="1">
                <a:latin typeface="Helvetica Neue"/>
              </a:rPr>
              <a:t>that</a:t>
            </a:r>
            <a:r>
              <a:rPr lang="es-PE" sz="800" dirty="0">
                <a:latin typeface="Helvetica Neue"/>
              </a:rPr>
              <a:t> </a:t>
            </a:r>
            <a:r>
              <a:rPr lang="es-PE" sz="800" dirty="0" err="1">
                <a:latin typeface="Helvetica Neue"/>
              </a:rPr>
              <a:t>centralizes</a:t>
            </a:r>
            <a:r>
              <a:rPr lang="es-PE" sz="800"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documentation</a:t>
            </a:r>
            <a:r>
              <a:rPr lang="es-PE" sz="800" dirty="0">
                <a:latin typeface="Helvetica Neue"/>
              </a:rPr>
              <a:t>, links </a:t>
            </a:r>
            <a:r>
              <a:rPr lang="es-PE" sz="800" dirty="0" err="1">
                <a:latin typeface="Helvetica Neue"/>
              </a:rPr>
              <a:t>every</a:t>
            </a:r>
            <a:r>
              <a:rPr lang="es-PE" sz="800" dirty="0">
                <a:latin typeface="Helvetica Neue"/>
              </a:rPr>
              <a:t> </a:t>
            </a:r>
            <a:r>
              <a:rPr lang="es-PE" sz="800" dirty="0" err="1">
                <a:latin typeface="Helvetica Neue"/>
              </a:rPr>
              <a:t>batch</a:t>
            </a:r>
            <a:r>
              <a:rPr lang="es-PE" sz="800" dirty="0">
                <a:latin typeface="Helvetica Neue"/>
              </a:rPr>
              <a:t> </a:t>
            </a:r>
            <a:r>
              <a:rPr lang="es-PE" sz="800" dirty="0" err="1">
                <a:latin typeface="Helvetica Neue"/>
              </a:rPr>
              <a:t>with</a:t>
            </a:r>
            <a:r>
              <a:rPr lang="es-PE" sz="800" dirty="0">
                <a:latin typeface="Helvetica Neue"/>
              </a:rPr>
              <a:t> </a:t>
            </a:r>
            <a:r>
              <a:rPr lang="es-PE" sz="800" dirty="0" err="1">
                <a:latin typeface="Helvetica Neue"/>
              </a:rPr>
              <a:t>its</a:t>
            </a:r>
            <a:r>
              <a:rPr lang="es-PE" sz="800" dirty="0">
                <a:latin typeface="Helvetica Neue"/>
              </a:rPr>
              <a:t> </a:t>
            </a:r>
            <a:r>
              <a:rPr lang="es-PE" sz="800" dirty="0" err="1">
                <a:latin typeface="Helvetica Neue"/>
              </a:rPr>
              <a:t>records</a:t>
            </a:r>
            <a:r>
              <a:rPr lang="es-PE" sz="800" dirty="0">
                <a:latin typeface="Helvetica Neue"/>
              </a:rPr>
              <a:t>, </a:t>
            </a:r>
            <a:r>
              <a:rPr lang="es-PE" sz="800" dirty="0" err="1">
                <a:latin typeface="Helvetica Neue"/>
              </a:rPr>
              <a:t>deviations</a:t>
            </a:r>
            <a:r>
              <a:rPr lang="es-PE" sz="800" dirty="0">
                <a:latin typeface="Helvetica Neue"/>
              </a:rPr>
              <a:t> and </a:t>
            </a:r>
            <a:r>
              <a:rPr lang="es-PE" sz="800" dirty="0" err="1">
                <a:latin typeface="Helvetica Neue"/>
              </a:rPr>
              <a:t>IoT-captured</a:t>
            </a:r>
            <a:r>
              <a:rPr lang="es-PE" sz="800" dirty="0">
                <a:latin typeface="Helvetica Neue"/>
              </a:rPr>
              <a:t> </a:t>
            </a:r>
            <a:r>
              <a:rPr lang="es-PE" sz="800" dirty="0" err="1">
                <a:latin typeface="Helvetica Neue"/>
              </a:rPr>
              <a:t>process</a:t>
            </a:r>
            <a:r>
              <a:rPr lang="es-PE" sz="800" dirty="0">
                <a:latin typeface="Helvetica Neue"/>
              </a:rPr>
              <a:t> data, and </a:t>
            </a:r>
            <a:r>
              <a:rPr lang="es-PE" sz="800" dirty="0" err="1">
                <a:latin typeface="Helvetica Neue"/>
              </a:rPr>
              <a:t>generates</a:t>
            </a:r>
            <a:r>
              <a:rPr lang="es-PE" sz="800" dirty="0">
                <a:latin typeface="Helvetica Neue"/>
              </a:rPr>
              <a:t> </a:t>
            </a:r>
            <a:r>
              <a:rPr lang="es-PE" sz="800" dirty="0" err="1">
                <a:latin typeface="Helvetica Neue"/>
              </a:rPr>
              <a:t>audit-ready</a:t>
            </a:r>
            <a:r>
              <a:rPr lang="es-PE" sz="800" dirty="0">
                <a:latin typeface="Helvetica Neue"/>
              </a:rPr>
              <a:t> </a:t>
            </a:r>
            <a:r>
              <a:rPr lang="es-PE" sz="800" dirty="0" err="1">
                <a:latin typeface="Helvetica Neue"/>
              </a:rPr>
              <a:t>reports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Our</a:t>
            </a:r>
            <a:r>
              <a:rPr lang="es-PE" sz="800" b="1" i="1" dirty="0">
                <a:latin typeface="Helvetica Neue"/>
              </a:rPr>
              <a:t> </a:t>
            </a:r>
            <a:r>
              <a:rPr lang="es-PE" sz="800" b="1" i="1" dirty="0" err="1">
                <a:latin typeface="Helvetica Neue"/>
              </a:rPr>
              <a:t>initial</a:t>
            </a:r>
            <a:r>
              <a:rPr lang="es-PE" sz="800" b="1" i="1" dirty="0">
                <a:latin typeface="Helvetica Neue"/>
              </a:rPr>
              <a:t> </a:t>
            </a:r>
            <a:r>
              <a:rPr lang="es-PE" sz="800" b="1" i="1" dirty="0" err="1">
                <a:latin typeface="Helvetica Neue"/>
              </a:rPr>
              <a:t>focus</a:t>
            </a:r>
            <a:r>
              <a:rPr lang="es-PE" sz="800" b="1" i="1" dirty="0">
                <a:latin typeface="Helvetica Neue"/>
              </a:rPr>
              <a:t> </a:t>
            </a:r>
            <a:r>
              <a:rPr lang="es-PE" sz="800" b="1" i="1" dirty="0" err="1">
                <a:latin typeface="Helvetica Neue"/>
              </a:rPr>
              <a:t>will</a:t>
            </a:r>
            <a:r>
              <a:rPr lang="es-PE" sz="800" b="1" i="1" dirty="0">
                <a:latin typeface="Helvetica Neue"/>
              </a:rPr>
              <a:t> be </a:t>
            </a:r>
            <a:r>
              <a:rPr lang="es-PE" sz="800" dirty="0">
                <a:latin typeface="Helvetica Neue"/>
              </a:rPr>
              <a:t>QA/QC </a:t>
            </a:r>
            <a:r>
              <a:rPr lang="es-PE" sz="800" dirty="0" err="1">
                <a:latin typeface="Helvetica Neue"/>
              </a:rPr>
              <a:t>specialists</a:t>
            </a:r>
            <a:r>
              <a:rPr lang="es-PE" sz="800" dirty="0">
                <a:latin typeface="Helvetica Neue"/>
              </a:rPr>
              <a:t> and </a:t>
            </a:r>
            <a:r>
              <a:rPr lang="es-PE" sz="800" dirty="0" err="1">
                <a:latin typeface="Helvetica Neue"/>
              </a:rPr>
              <a:t>pharmaceutical</a:t>
            </a:r>
            <a:r>
              <a:rPr lang="es-PE" sz="800" dirty="0">
                <a:latin typeface="Helvetica Neue"/>
              </a:rPr>
              <a:t> </a:t>
            </a:r>
            <a:r>
              <a:rPr lang="es-PE" sz="800" dirty="0" err="1">
                <a:latin typeface="Helvetica Neue"/>
              </a:rPr>
              <a:t>production</a:t>
            </a:r>
            <a:r>
              <a:rPr lang="es-PE" sz="800" dirty="0">
                <a:latin typeface="Helvetica Neue"/>
              </a:rPr>
              <a:t> </a:t>
            </a:r>
            <a:r>
              <a:rPr lang="es-PE" sz="800" dirty="0" err="1">
                <a:latin typeface="Helvetica Neue"/>
              </a:rPr>
              <a:t>supervisors</a:t>
            </a:r>
            <a:r>
              <a:rPr lang="es-PE" sz="800" dirty="0">
                <a:latin typeface="Helvetica Neue"/>
              </a:rPr>
              <a:t> </a:t>
            </a:r>
            <a:r>
              <a:rPr lang="es-PE" sz="800" dirty="0" err="1">
                <a:latin typeface="Helvetica Neue"/>
              </a:rPr>
              <a:t>of</a:t>
            </a:r>
            <a:r>
              <a:rPr lang="es-PE" sz="800" dirty="0">
                <a:latin typeface="Helvetica Neue"/>
              </a:rPr>
              <a:t> </a:t>
            </a:r>
            <a:r>
              <a:rPr lang="es-PE" sz="800" dirty="0" err="1">
                <a:latin typeface="Helvetica Neue"/>
              </a:rPr>
              <a:t>small</a:t>
            </a:r>
            <a:r>
              <a:rPr lang="es-PE" sz="800" dirty="0">
                <a:latin typeface="Helvetica Neue"/>
              </a:rPr>
              <a:t> and </a:t>
            </a:r>
            <a:r>
              <a:rPr lang="es-PE" sz="800" dirty="0" err="1">
                <a:latin typeface="Helvetica Neue"/>
              </a:rPr>
              <a:t>medium-sized</a:t>
            </a:r>
            <a:r>
              <a:rPr lang="es-PE" sz="800" dirty="0">
                <a:latin typeface="Helvetica Neue"/>
              </a:rPr>
              <a:t> </a:t>
            </a:r>
            <a:r>
              <a:rPr lang="es-PE" sz="800" dirty="0" err="1">
                <a:latin typeface="Helvetica Neue"/>
              </a:rPr>
              <a:t>laboratories</a:t>
            </a:r>
            <a:r>
              <a:rPr lang="es-PE" sz="800" dirty="0">
                <a:latin typeface="Helvetica Neue"/>
              </a:rPr>
              <a:t> in Lima Metropolitana </a:t>
            </a:r>
            <a:r>
              <a:rPr lang="es-PE" sz="800" dirty="0" err="1">
                <a:latin typeface="Helvetica Neue"/>
              </a:rPr>
              <a:t>that</a:t>
            </a:r>
            <a:r>
              <a:rPr lang="es-PE" sz="800" dirty="0">
                <a:latin typeface="Helvetica Neue"/>
              </a:rPr>
              <a:t> manufacture </a:t>
            </a:r>
            <a:r>
              <a:rPr lang="es-PE" sz="800" dirty="0" err="1">
                <a:latin typeface="Helvetica Neue"/>
              </a:rPr>
              <a:t>under</a:t>
            </a:r>
            <a:r>
              <a:rPr lang="es-PE" sz="800" dirty="0">
                <a:latin typeface="Helvetica Neue"/>
              </a:rPr>
              <a:t> DIGEMID GMP </a:t>
            </a:r>
            <a:r>
              <a:rPr lang="es-PE" sz="800" dirty="0" err="1">
                <a:latin typeface="Helvetica Neue"/>
              </a:rPr>
              <a:t>requirements</a:t>
            </a:r>
            <a:r>
              <a:rPr lang="es-PE" sz="800" dirty="0">
                <a:latin typeface="Helvetica Neue"/>
              </a:rPr>
              <a:t>.</a:t>
            </a:r>
          </a:p>
          <a:p>
            <a:pPr algn="just">
              <a:defRPr/>
            </a:pPr>
            <a:endParaRPr lang="es-PE" sz="300" dirty="0">
              <a:latin typeface="Helvetica Neue"/>
            </a:endParaRPr>
          </a:p>
          <a:p>
            <a:pPr algn="just">
              <a:defRPr/>
            </a:pPr>
            <a:r>
              <a:rPr lang="es-PE" sz="800" b="1" i="1" dirty="0" err="1">
                <a:latin typeface="Helvetica Neue"/>
              </a:rPr>
              <a:t>We’ll</a:t>
            </a:r>
            <a:r>
              <a:rPr lang="es-PE" sz="800" b="1" i="1" dirty="0">
                <a:latin typeface="Helvetica Neue"/>
              </a:rPr>
              <a:t> </a:t>
            </a:r>
            <a:r>
              <a:rPr lang="es-PE" sz="800" b="1" i="1" dirty="0" err="1">
                <a:latin typeface="Helvetica Neue"/>
              </a:rPr>
              <a:t>know</a:t>
            </a:r>
            <a:r>
              <a:rPr lang="es-PE" sz="800" b="1" i="1" dirty="0">
                <a:latin typeface="Helvetica Neue"/>
              </a:rPr>
              <a:t> </a:t>
            </a:r>
            <a:r>
              <a:rPr lang="es-PE" sz="800" b="1" i="1" dirty="0" err="1">
                <a:latin typeface="Helvetica Neue"/>
              </a:rPr>
              <a:t>we</a:t>
            </a:r>
            <a:r>
              <a:rPr lang="es-PE" sz="800" b="1" i="1" dirty="0">
                <a:latin typeface="Helvetica Neue"/>
              </a:rPr>
              <a:t> are </a:t>
            </a:r>
            <a:r>
              <a:rPr lang="es-PE" sz="800" b="1" i="1" dirty="0" err="1">
                <a:latin typeface="Helvetica Neue"/>
              </a:rPr>
              <a:t>successful</a:t>
            </a:r>
            <a:r>
              <a:rPr lang="es-PE" sz="800" b="1" i="1" dirty="0">
                <a:latin typeface="Helvetica Neue"/>
              </a:rPr>
              <a:t> </a:t>
            </a:r>
            <a:r>
              <a:rPr lang="es-PE" sz="800" b="1" i="1" dirty="0" err="1">
                <a:latin typeface="Helvetica Neue"/>
              </a:rPr>
              <a:t>when</a:t>
            </a:r>
            <a:r>
              <a:rPr lang="es-PE" sz="800" b="1" i="1" dirty="0">
                <a:latin typeface="Helvetica Neue"/>
              </a:rPr>
              <a:t> </a:t>
            </a:r>
            <a:r>
              <a:rPr lang="es-PE" sz="800" b="1" i="1" dirty="0" err="1">
                <a:latin typeface="Helvetica Neue"/>
              </a:rPr>
              <a:t>we</a:t>
            </a:r>
            <a:r>
              <a:rPr lang="es-PE" sz="800" b="1" i="1" dirty="0">
                <a:latin typeface="Helvetica Neue"/>
              </a:rPr>
              <a:t> </a:t>
            </a:r>
            <a:r>
              <a:rPr lang="es-PE" sz="800" b="1" i="1" dirty="0" err="1">
                <a:latin typeface="Helvetica Neue"/>
              </a:rPr>
              <a:t>see</a:t>
            </a:r>
            <a:r>
              <a:rPr lang="es-PE" sz="800" dirty="0">
                <a:latin typeface="Helvetica Neue"/>
              </a:rPr>
              <a:t>, </a:t>
            </a:r>
            <a:r>
              <a:rPr lang="es-PE" sz="800" dirty="0" err="1">
                <a:latin typeface="Helvetica Neue"/>
              </a:rPr>
              <a:t>within</a:t>
            </a:r>
            <a:r>
              <a:rPr lang="es-PE" sz="800" dirty="0">
                <a:latin typeface="Helvetica Neue"/>
              </a:rPr>
              <a:t> </a:t>
            </a:r>
            <a:r>
              <a:rPr lang="es-PE" sz="800" dirty="0" err="1">
                <a:latin typeface="Helvetica Neue"/>
              </a:rPr>
              <a:t>the</a:t>
            </a:r>
            <a:r>
              <a:rPr lang="es-PE" sz="800" dirty="0">
                <a:latin typeface="Helvetica Neue"/>
              </a:rPr>
              <a:t> </a:t>
            </a:r>
            <a:r>
              <a:rPr lang="es-PE" sz="800" dirty="0" err="1">
                <a:latin typeface="Helvetica Neue"/>
              </a:rPr>
              <a:t>first</a:t>
            </a:r>
            <a:r>
              <a:rPr lang="es-PE" sz="800" dirty="0">
                <a:latin typeface="Helvetica Neue"/>
              </a:rPr>
              <a:t> </a:t>
            </a:r>
            <a:r>
              <a:rPr lang="es-PE" sz="800" dirty="0" err="1">
                <a:latin typeface="Helvetica Neue"/>
              </a:rPr>
              <a:t>six</a:t>
            </a:r>
            <a:r>
              <a:rPr lang="es-PE" sz="800" dirty="0">
                <a:latin typeface="Helvetica Neue"/>
              </a:rPr>
              <a:t> </a:t>
            </a:r>
            <a:r>
              <a:rPr lang="es-PE" sz="800" dirty="0" err="1">
                <a:latin typeface="Helvetica Neue"/>
              </a:rPr>
              <a:t>months</a:t>
            </a:r>
            <a:r>
              <a:rPr lang="es-PE" sz="800" dirty="0">
                <a:latin typeface="Helvetica Neue"/>
              </a:rPr>
              <a:t> after </a:t>
            </a:r>
            <a:r>
              <a:rPr lang="es-PE" sz="800" dirty="0" err="1">
                <a:latin typeface="Helvetica Neue"/>
              </a:rPr>
              <a:t>launch</a:t>
            </a:r>
            <a:r>
              <a:rPr lang="es-PE" sz="800" dirty="0">
                <a:latin typeface="Helvetica Neue"/>
              </a:rPr>
              <a:t>, at </a:t>
            </a:r>
            <a:r>
              <a:rPr lang="es-PE" sz="800" dirty="0" err="1">
                <a:latin typeface="Helvetica Neue"/>
              </a:rPr>
              <a:t>least</a:t>
            </a:r>
            <a:r>
              <a:rPr lang="es-PE" sz="800" dirty="0">
                <a:latin typeface="Helvetica Neue"/>
              </a:rPr>
              <a:t> 80% </a:t>
            </a:r>
            <a:r>
              <a:rPr lang="es-PE" sz="800" dirty="0" err="1">
                <a:latin typeface="Helvetica Neue"/>
              </a:rPr>
              <a:t>of</a:t>
            </a:r>
            <a:r>
              <a:rPr lang="es-PE" sz="800" dirty="0">
                <a:latin typeface="Helvetica Neue"/>
              </a:rPr>
              <a:t> </a:t>
            </a:r>
            <a:r>
              <a:rPr lang="es-PE" sz="800" dirty="0" err="1">
                <a:latin typeface="Helvetica Neue"/>
              </a:rPr>
              <a:t>the</a:t>
            </a:r>
            <a:r>
              <a:rPr lang="es-PE" sz="800" dirty="0">
                <a:latin typeface="Helvetica Neue"/>
              </a:rPr>
              <a:t> </a:t>
            </a:r>
            <a:r>
              <a:rPr lang="es-PE" sz="800" dirty="0" err="1">
                <a:latin typeface="Helvetica Neue"/>
              </a:rPr>
              <a:t>quality</a:t>
            </a:r>
            <a:r>
              <a:rPr lang="es-PE" sz="800" dirty="0">
                <a:latin typeface="Helvetica Neue"/>
              </a:rPr>
              <a:t> </a:t>
            </a:r>
            <a:r>
              <a:rPr lang="es-PE" sz="800" dirty="0" err="1">
                <a:latin typeface="Helvetica Neue"/>
              </a:rPr>
              <a:t>documentation</a:t>
            </a:r>
            <a:r>
              <a:rPr lang="es-PE" sz="800" dirty="0">
                <a:latin typeface="Helvetica Neue"/>
              </a:rPr>
              <a:t> </a:t>
            </a:r>
            <a:r>
              <a:rPr lang="es-PE" sz="800" dirty="0" err="1">
                <a:latin typeface="Helvetica Neue"/>
              </a:rPr>
              <a:t>queries</a:t>
            </a:r>
            <a:r>
              <a:rPr lang="es-PE" sz="800" dirty="0">
                <a:latin typeface="Helvetica Neue"/>
              </a:rPr>
              <a:t> </a:t>
            </a:r>
            <a:r>
              <a:rPr lang="es-PE" sz="800" dirty="0" err="1">
                <a:latin typeface="Helvetica Neue"/>
              </a:rPr>
              <a:t>of</a:t>
            </a:r>
            <a:r>
              <a:rPr lang="es-PE" sz="800" dirty="0">
                <a:latin typeface="Helvetica Neue"/>
              </a:rPr>
              <a:t> </a:t>
            </a:r>
            <a:r>
              <a:rPr lang="es-PE" sz="800" dirty="0" err="1">
                <a:latin typeface="Helvetica Neue"/>
              </a:rPr>
              <a:t>pilot</a:t>
            </a:r>
            <a:r>
              <a:rPr lang="es-PE" sz="800" dirty="0">
                <a:latin typeface="Helvetica Neue"/>
              </a:rPr>
              <a:t> </a:t>
            </a:r>
            <a:r>
              <a:rPr lang="es-PE" sz="800" dirty="0" err="1">
                <a:latin typeface="Helvetica Neue"/>
              </a:rPr>
              <a:t>laboratories</a:t>
            </a:r>
            <a:r>
              <a:rPr lang="es-PE" sz="800" dirty="0">
                <a:latin typeface="Helvetica Neue"/>
              </a:rPr>
              <a:t> resolved </a:t>
            </a:r>
            <a:r>
              <a:rPr lang="es-PE" sz="800" dirty="0" err="1">
                <a:latin typeface="Helvetica Neue"/>
              </a:rPr>
              <a:t>through</a:t>
            </a:r>
            <a:r>
              <a:rPr lang="es-PE" sz="800" dirty="0">
                <a:latin typeface="Helvetica Neue"/>
              </a:rPr>
              <a:t> </a:t>
            </a:r>
            <a:r>
              <a:rPr lang="es-PE" sz="800" dirty="0" err="1">
                <a:latin typeface="Helvetica Neue"/>
              </a:rPr>
              <a:t>the</a:t>
            </a:r>
            <a:r>
              <a:rPr lang="es-PE" sz="800" dirty="0">
                <a:latin typeface="Helvetica Neue"/>
              </a:rPr>
              <a:t> </a:t>
            </a:r>
            <a:r>
              <a:rPr lang="es-PE" sz="800" dirty="0" err="1">
                <a:latin typeface="Helvetica Neue"/>
              </a:rPr>
              <a:t>platform</a:t>
            </a:r>
            <a:r>
              <a:rPr lang="es-PE" sz="800" dirty="0">
                <a:latin typeface="Helvetica Neue"/>
              </a:rPr>
              <a:t>, a 50% </a:t>
            </a:r>
            <a:r>
              <a:rPr lang="es-PE" sz="800" dirty="0" err="1">
                <a:latin typeface="Helvetica Neue"/>
              </a:rPr>
              <a:t>reduction</a:t>
            </a:r>
            <a:r>
              <a:rPr lang="es-PE" sz="800" dirty="0">
                <a:latin typeface="Helvetica Neue"/>
              </a:rPr>
              <a:t> in </a:t>
            </a:r>
            <a:r>
              <a:rPr lang="es-PE" sz="800" dirty="0" err="1">
                <a:latin typeface="Helvetica Neue"/>
              </a:rPr>
              <a:t>the</a:t>
            </a:r>
            <a:r>
              <a:rPr lang="es-PE" sz="800" dirty="0">
                <a:latin typeface="Helvetica Neue"/>
              </a:rPr>
              <a:t> time </a:t>
            </a:r>
            <a:r>
              <a:rPr lang="es-PE" sz="800" dirty="0" err="1">
                <a:latin typeface="Helvetica Neue"/>
              </a:rPr>
              <a:t>required</a:t>
            </a:r>
            <a:r>
              <a:rPr lang="es-PE" sz="800" dirty="0">
                <a:latin typeface="Helvetica Neue"/>
              </a:rPr>
              <a:t> </a:t>
            </a:r>
            <a:r>
              <a:rPr lang="es-PE" sz="800" dirty="0" err="1">
                <a:latin typeface="Helvetica Neue"/>
              </a:rPr>
              <a:t>to</a:t>
            </a:r>
            <a:r>
              <a:rPr lang="es-PE" sz="800" dirty="0">
                <a:latin typeface="Helvetica Neue"/>
              </a:rPr>
              <a:t> </a:t>
            </a:r>
            <a:r>
              <a:rPr lang="es-PE" sz="800" dirty="0" err="1">
                <a:latin typeface="Helvetica Neue"/>
              </a:rPr>
              <a:t>retrieve</a:t>
            </a:r>
            <a:r>
              <a:rPr lang="es-PE" sz="800" dirty="0">
                <a:latin typeface="Helvetica Neue"/>
              </a:rPr>
              <a:t> a complete </a:t>
            </a:r>
            <a:r>
              <a:rPr lang="es-PE" sz="800" dirty="0" err="1">
                <a:latin typeface="Helvetica Neue"/>
              </a:rPr>
              <a:t>batch</a:t>
            </a:r>
            <a:r>
              <a:rPr lang="es-PE" sz="800" dirty="0">
                <a:latin typeface="Helvetica Neue"/>
              </a:rPr>
              <a:t> </a:t>
            </a:r>
            <a:r>
              <a:rPr lang="es-PE" sz="800" dirty="0" err="1">
                <a:latin typeface="Helvetica Neue"/>
              </a:rPr>
              <a:t>history</a:t>
            </a:r>
            <a:r>
              <a:rPr lang="es-PE" sz="800">
                <a:latin typeface="Helvetica Neue"/>
              </a:rPr>
              <a:t>, an 80% </a:t>
            </a:r>
            <a:r>
              <a:rPr lang="es-PE" sz="800" dirty="0" err="1">
                <a:latin typeface="Helvetica Neue"/>
              </a:rPr>
              <a:t>reduction</a:t>
            </a:r>
            <a:r>
              <a:rPr lang="es-PE" sz="800" dirty="0">
                <a:latin typeface="Helvetica Neue"/>
              </a:rPr>
              <a:t> in </a:t>
            </a:r>
            <a:r>
              <a:rPr lang="es-PE" sz="800" dirty="0" err="1">
                <a:latin typeface="Helvetica Neue"/>
              </a:rPr>
              <a:t>audit-preparation</a:t>
            </a:r>
            <a:r>
              <a:rPr lang="es-PE" sz="800" dirty="0">
                <a:latin typeface="Helvetica Neue"/>
              </a:rPr>
              <a:t> time, and at </a:t>
            </a:r>
            <a:r>
              <a:rPr lang="es-PE" sz="800" dirty="0" err="1">
                <a:latin typeface="Helvetica Neue"/>
              </a:rPr>
              <a:t>least</a:t>
            </a:r>
            <a:r>
              <a:rPr lang="es-PE" sz="800" dirty="0">
                <a:latin typeface="Helvetica Neue"/>
              </a:rPr>
              <a:t> 10 </a:t>
            </a:r>
            <a:r>
              <a:rPr lang="es-PE" sz="800" dirty="0" err="1">
                <a:latin typeface="Helvetica Neue"/>
              </a:rPr>
              <a:t>laboratories</a:t>
            </a:r>
            <a:r>
              <a:rPr lang="es-PE" sz="800" dirty="0">
                <a:latin typeface="Helvetica Neue"/>
              </a:rPr>
              <a:t> </a:t>
            </a:r>
            <a:r>
              <a:rPr lang="es-PE" sz="800" dirty="0" err="1">
                <a:latin typeface="Helvetica Neue"/>
              </a:rPr>
              <a:t>subscribed</a:t>
            </a:r>
            <a:r>
              <a:rPr lang="es-PE" sz="800" dirty="0">
                <a:latin typeface="Helvetica Neue"/>
              </a:rPr>
              <a:t> </a:t>
            </a:r>
            <a:r>
              <a:rPr lang="es-PE" sz="800" dirty="0" err="1">
                <a:latin typeface="Helvetica Neue"/>
              </a:rPr>
              <a:t>to</a:t>
            </a:r>
            <a:r>
              <a:rPr lang="es-PE" sz="800" dirty="0">
                <a:latin typeface="Helvetica Neue"/>
              </a:rPr>
              <a:t> a </a:t>
            </a:r>
            <a:r>
              <a:rPr lang="es-PE" sz="800" dirty="0" err="1">
                <a:latin typeface="Helvetica Neue"/>
              </a:rPr>
              <a:t>paid</a:t>
            </a:r>
            <a:r>
              <a:rPr lang="es-PE" sz="800" dirty="0">
                <a:latin typeface="Helvetica Neue"/>
              </a:rPr>
              <a:t> plan.</a:t>
            </a:r>
            <a:endParaRPr lang="en-US" sz="1000" i="1" dirty="0">
              <a:latin typeface="Helvetica Neue"/>
              <a:cs typeface="Helvetica Neue"/>
            </a:endParaRPr>
          </a:p>
        </p:txBody>
      </p:sp>
      <p:sp>
        <p:nvSpPr>
          <p:cNvPr id="14" name="Rectangle 13"/>
          <p:cNvSpPr/>
          <p:nvPr/>
        </p:nvSpPr>
        <p:spPr bwMode="auto">
          <a:xfrm>
            <a:off x="9677400" y="1066800"/>
            <a:ext cx="5419725" cy="27432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Business Outcomes</a:t>
            </a:r>
          </a:p>
          <a:p>
            <a:pPr marL="171450" indent="-171450" algn="just">
              <a:buFont typeface="Wingdings" panose="05000000000000000000" pitchFamily="2" charset="2"/>
              <a:buChar char="v"/>
              <a:defRPr/>
            </a:pPr>
            <a:r>
              <a:rPr lang="en-US" sz="900" b="1" i="1" dirty="0">
                <a:latin typeface="Helvetica Neue"/>
                <a:cs typeface="Helvetica Neue"/>
              </a:rPr>
              <a:t>Audit Efficiency:</a:t>
            </a:r>
          </a:p>
          <a:p>
            <a:pPr marL="628650" lvl="1" indent="-171450" algn="just">
              <a:buFont typeface="Arial" panose="020B0604020202020204" pitchFamily="34" charset="0"/>
              <a:buChar char="•"/>
              <a:defRPr/>
            </a:pPr>
            <a:r>
              <a:rPr lang="en-US" sz="900" i="1">
                <a:latin typeface="Helvetica Neue"/>
                <a:cs typeface="Helvetica Neue"/>
              </a:rPr>
              <a:t>Reduce audit-preparation time by at least 80%.</a:t>
            </a:r>
            <a:endParaRPr lang="en-US" sz="900" i="1" dirty="0">
              <a:latin typeface="Helvetica Neue"/>
              <a:cs typeface="Helvetica Neue"/>
            </a:endParaRPr>
          </a:p>
          <a:p>
            <a:pPr marL="628650" lvl="1" indent="-171450" algn="just">
              <a:buFont typeface="Arial" panose="020B0604020202020204" pitchFamily="34" charset="0"/>
              <a:buChar char="•"/>
              <a:defRPr/>
            </a:pPr>
            <a:r>
              <a:rPr lang="en-US" sz="900" i="1" dirty="0">
                <a:latin typeface="Helvetica Neue"/>
                <a:cs typeface="Helvetica Neue"/>
              </a:rPr>
              <a:t>Reduce the effort required to gather audit evidence.</a:t>
            </a:r>
          </a:p>
          <a:p>
            <a:pPr marL="171450" indent="-171450" algn="just">
              <a:buFont typeface="Wingdings" panose="05000000000000000000" pitchFamily="2" charset="2"/>
              <a:buChar char="v"/>
              <a:defRPr/>
            </a:pPr>
            <a:r>
              <a:rPr lang="en-US" sz="900" b="1" i="1" dirty="0">
                <a:latin typeface="Helvetica Neue"/>
                <a:cs typeface="Helvetica Neue"/>
              </a:rPr>
              <a:t>Documentation Management:</a:t>
            </a:r>
          </a:p>
          <a:p>
            <a:pPr marL="628650" lvl="1" indent="-171450" algn="just">
              <a:buFont typeface="Arial" panose="020B0604020202020204" pitchFamily="34" charset="0"/>
              <a:buChar char="•"/>
              <a:defRPr/>
            </a:pPr>
            <a:r>
              <a:rPr lang="en-US" sz="900" i="1" dirty="0">
                <a:latin typeface="Helvetica Neue"/>
                <a:cs typeface="Helvetica Neue"/>
              </a:rPr>
              <a:t>Reduce quality document retrieval time by at least 50%.</a:t>
            </a:r>
          </a:p>
          <a:p>
            <a:pPr marL="628650" lvl="1" indent="-171450" algn="just">
              <a:buFont typeface="Arial" panose="020B0604020202020204" pitchFamily="34" charset="0"/>
              <a:buChar char="•"/>
              <a:defRPr/>
            </a:pPr>
            <a:r>
              <a:rPr lang="en-US" sz="900" i="1" dirty="0">
                <a:latin typeface="Helvetica Neue"/>
                <a:cs typeface="Helvetica Neue"/>
              </a:rPr>
              <a:t>Increase accessibility and availability of regulatory records.</a:t>
            </a:r>
          </a:p>
          <a:p>
            <a:pPr marL="171450" indent="-171450" algn="just">
              <a:buFont typeface="Wingdings" panose="05000000000000000000" pitchFamily="2" charset="2"/>
              <a:buChar char="v"/>
              <a:defRPr/>
            </a:pPr>
            <a:r>
              <a:rPr lang="en-US" sz="900" b="1" i="1" dirty="0">
                <a:latin typeface="Helvetica Neue"/>
                <a:cs typeface="Helvetica Neue"/>
              </a:rPr>
              <a:t>Traceability Improvement:</a:t>
            </a:r>
          </a:p>
          <a:p>
            <a:pPr marL="628650" lvl="1" indent="-171450" algn="just">
              <a:buFont typeface="Arial" panose="020B0604020202020204" pitchFamily="34" charset="0"/>
              <a:buChar char="•"/>
              <a:defRPr/>
            </a:pPr>
            <a:r>
              <a:rPr lang="en-US" sz="900" i="1" dirty="0">
                <a:latin typeface="Helvetica Neue"/>
                <a:cs typeface="Helvetica Neue"/>
              </a:rPr>
              <a:t>Increase the percentage of batches with complete digital traceability.</a:t>
            </a:r>
          </a:p>
          <a:p>
            <a:pPr marL="628650" lvl="1" indent="-171450" algn="just">
              <a:buFont typeface="Arial" panose="020B0604020202020204" pitchFamily="34" charset="0"/>
              <a:buChar char="•"/>
              <a:defRPr/>
            </a:pPr>
            <a:r>
              <a:rPr lang="en-US" sz="900" i="1" dirty="0">
                <a:latin typeface="Helvetica Neue"/>
                <a:cs typeface="Helvetica Neue"/>
              </a:rPr>
              <a:t>Improve visibility of batch lifecycle information.</a:t>
            </a:r>
          </a:p>
          <a:p>
            <a:pPr marL="171450" indent="-171450" algn="just">
              <a:buFont typeface="Wingdings" panose="05000000000000000000" pitchFamily="2" charset="2"/>
              <a:buChar char="v"/>
              <a:defRPr/>
            </a:pPr>
            <a:r>
              <a:rPr lang="en-US" sz="900" b="1" i="1" dirty="0">
                <a:latin typeface="Helvetica Neue"/>
                <a:cs typeface="Helvetica Neue"/>
              </a:rPr>
              <a:t>Regulatory Compliance:</a:t>
            </a:r>
          </a:p>
          <a:p>
            <a:pPr marL="628650" lvl="1" indent="-171450" algn="just">
              <a:buFont typeface="Arial" panose="020B0604020202020204" pitchFamily="34" charset="0"/>
              <a:buChar char="•"/>
              <a:defRPr/>
            </a:pPr>
            <a:r>
              <a:rPr lang="en-US" sz="900" i="1" dirty="0">
                <a:latin typeface="Helvetica Neue"/>
                <a:cs typeface="Helvetica Neue"/>
              </a:rPr>
              <a:t>Reduce documentation-related audit observations.</a:t>
            </a:r>
          </a:p>
          <a:p>
            <a:pPr marL="628650" lvl="1" indent="-171450" algn="just">
              <a:buFont typeface="Arial" panose="020B0604020202020204" pitchFamily="34" charset="0"/>
              <a:buChar char="•"/>
              <a:defRPr/>
            </a:pPr>
            <a:r>
              <a:rPr lang="en-US" sz="900" i="1" dirty="0">
                <a:latin typeface="Helvetica Neue"/>
                <a:cs typeface="Helvetica Neue"/>
              </a:rPr>
              <a:t>Strengthen compliance with GMP and data integrity requirements.</a:t>
            </a:r>
          </a:p>
          <a:p>
            <a:pPr marL="171450" indent="-171450" algn="just">
              <a:buFont typeface="Wingdings" panose="05000000000000000000" pitchFamily="2" charset="2"/>
              <a:buChar char="v"/>
              <a:defRPr/>
            </a:pPr>
            <a:r>
              <a:rPr lang="en-US" sz="900" b="1" i="1" dirty="0">
                <a:latin typeface="Helvetica Neue"/>
                <a:cs typeface="Helvetica Neue"/>
              </a:rPr>
              <a:t>Platform Adoption:</a:t>
            </a:r>
          </a:p>
          <a:p>
            <a:pPr marL="628650" lvl="1" indent="-171450" algn="just">
              <a:buFont typeface="Arial" panose="020B0604020202020204" pitchFamily="34" charset="0"/>
              <a:buChar char="•"/>
              <a:defRPr/>
            </a:pPr>
            <a:r>
              <a:rPr lang="en-US" sz="900" i="1" dirty="0">
                <a:latin typeface="Helvetica Neue"/>
                <a:cs typeface="Helvetica Neue"/>
              </a:rPr>
              <a:t>Achieve adoption among QA/QC Specialists and Production Supervisors as the primary quality-management platform.</a:t>
            </a:r>
          </a:p>
          <a:p>
            <a:pPr marL="628650" lvl="1" indent="-171450" algn="just">
              <a:buFont typeface="Arial" panose="020B0604020202020204" pitchFamily="34" charset="0"/>
              <a:buChar char="•"/>
              <a:defRPr/>
            </a:pPr>
            <a:r>
              <a:rPr lang="en-US" sz="900" i="1" dirty="0">
                <a:latin typeface="Helvetica Neue"/>
                <a:cs typeface="Helvetica Neue"/>
              </a:rPr>
              <a:t>Ensure that at least 80% of quality-documentation queries are performed through the platform.</a:t>
            </a:r>
          </a:p>
        </p:txBody>
      </p:sp>
      <p:sp>
        <p:nvSpPr>
          <p:cNvPr id="26637" name="Rectangle 15"/>
          <p:cNvSpPr>
            <a:spLocks noChangeArrowheads="1"/>
          </p:cNvSpPr>
          <p:nvPr/>
        </p:nvSpPr>
        <p:spPr bwMode="auto">
          <a:xfrm>
            <a:off x="4800600" y="325438"/>
            <a:ext cx="7772400" cy="547687"/>
          </a:xfrm>
          <a:prstGeom prst="rect">
            <a:avLst/>
          </a:prstGeom>
          <a:solidFill>
            <a:schemeClr val="bg1"/>
          </a:solidFill>
          <a:ln>
            <a:noFill/>
          </a:ln>
          <a:extLst>
            <a:ext uri="{91240B29-F687-4f45-9708-019B960494DF}">
              <a14:hiddenLine xmlns:a14="http://schemas.microsoft.com/office/drawing/2010/main" xmlns="" w="3175">
                <a:solidFill>
                  <a:srgbClr val="000000"/>
                </a:solidFill>
                <a:round/>
                <a:headEnd/>
                <a:tailEnd/>
              </a14:hiddenLine>
            </a:ext>
          </a:extLst>
        </p:spPr>
        <p:txBody>
          <a:bodyPr/>
          <a:lstStyle/>
          <a:p>
            <a:r>
              <a:rPr lang="en-US" sz="1000" dirty="0">
                <a:latin typeface="Helvetica Neue" charset="0"/>
                <a:cs typeface="Helvetica Neue" charset="0"/>
              </a:rPr>
              <a:t>Title of initiative: </a:t>
            </a:r>
            <a:r>
              <a:rPr lang="es-PE" sz="1400" b="1" dirty="0" err="1">
                <a:latin typeface="Helvetica Neue"/>
              </a:rPr>
              <a:t>DoofPlus</a:t>
            </a:r>
            <a:endParaRPr lang="en-US" sz="1000" b="1" dirty="0">
              <a:latin typeface="Helvetica Neue"/>
              <a:cs typeface="Helvetica Neue" charset="0"/>
            </a:endParaRPr>
          </a:p>
        </p:txBody>
      </p:sp>
      <p:sp>
        <p:nvSpPr>
          <p:cNvPr id="26638" name="Rectangle 17"/>
          <p:cNvSpPr>
            <a:spLocks noChangeArrowheads="1"/>
          </p:cNvSpPr>
          <p:nvPr/>
        </p:nvSpPr>
        <p:spPr bwMode="auto">
          <a:xfrm>
            <a:off x="12801600" y="352425"/>
            <a:ext cx="2286000" cy="228600"/>
          </a:xfrm>
          <a:prstGeom prst="rect">
            <a:avLst/>
          </a:prstGeom>
          <a:solidFill>
            <a:schemeClr val="bg1"/>
          </a:solidFill>
          <a:ln>
            <a:noFill/>
          </a:ln>
          <a:extLst>
            <a:ext uri="{91240B29-F687-4f45-9708-019B960494DF}">
              <a14:hiddenLine xmlns:a14="http://schemas.microsoft.com/office/drawing/2010/main" xmlns="" w="3175">
                <a:solidFill>
                  <a:srgbClr val="000000"/>
                </a:solidFill>
                <a:round/>
                <a:headEnd/>
                <a:tailEnd/>
              </a14:hiddenLine>
            </a:ext>
          </a:extLst>
        </p:spPr>
        <p:txBody>
          <a:bodyPr/>
          <a:lstStyle/>
          <a:p>
            <a:r>
              <a:rPr lang="en-US" sz="1000" dirty="0">
                <a:latin typeface="Helvetica Neue" charset="0"/>
                <a:cs typeface="Helvetica Neue" charset="0"/>
              </a:rPr>
              <a:t>Date:</a:t>
            </a:r>
            <a:r>
              <a:rPr lang="es-PE" sz="1200" dirty="0">
                <a:latin typeface="Helvetica Neue" charset="0"/>
                <a:cs typeface="Helvetica Neue" charset="0"/>
              </a:rPr>
              <a:t> </a:t>
            </a:r>
            <a:r>
              <a:rPr lang="es-PE" sz="1200" b="1" dirty="0">
                <a:latin typeface="Helvetica Neue"/>
              </a:rPr>
              <a:t>29/09/2026</a:t>
            </a:r>
            <a:r>
              <a:rPr lang="es-PE" sz="1200" dirty="0"/>
              <a:t> </a:t>
            </a:r>
            <a:endParaRPr lang="en-US" sz="300" dirty="0">
              <a:latin typeface="Helvetica Neue" charset="0"/>
              <a:cs typeface="Helvetica Neue" charset="0"/>
            </a:endParaRPr>
          </a:p>
        </p:txBody>
      </p:sp>
      <p:sp>
        <p:nvSpPr>
          <p:cNvPr id="26639" name="Rectangle 18"/>
          <p:cNvSpPr>
            <a:spLocks noChangeArrowheads="1"/>
          </p:cNvSpPr>
          <p:nvPr/>
        </p:nvSpPr>
        <p:spPr bwMode="auto">
          <a:xfrm>
            <a:off x="12801600" y="644525"/>
            <a:ext cx="2286000" cy="228600"/>
          </a:xfrm>
          <a:prstGeom prst="rect">
            <a:avLst/>
          </a:prstGeom>
          <a:solidFill>
            <a:schemeClr val="bg1"/>
          </a:solidFill>
          <a:ln>
            <a:noFill/>
          </a:ln>
          <a:extLst>
            <a:ext uri="{91240B29-F687-4f45-9708-019B960494DF}">
              <a14:hiddenLine xmlns:a14="http://schemas.microsoft.com/office/drawing/2010/main" xmlns="" w="3175">
                <a:solidFill>
                  <a:srgbClr val="000000"/>
                </a:solidFill>
                <a:round/>
                <a:headEnd/>
                <a:tailEnd/>
              </a14:hiddenLine>
            </a:ext>
          </a:extLst>
        </p:spPr>
        <p:txBody>
          <a:bodyPr/>
          <a:lstStyle/>
          <a:p>
            <a:r>
              <a:rPr lang="en-US" sz="1000" dirty="0">
                <a:latin typeface="Helvetica Neue" charset="0"/>
                <a:cs typeface="Helvetica Neue" charset="0"/>
              </a:rPr>
              <a:t>Iteration: </a:t>
            </a:r>
            <a:r>
              <a:rPr lang="es-PE" sz="1200" b="1">
                <a:latin typeface="Helvetica Neue"/>
              </a:rPr>
              <a:t>#3</a:t>
            </a:r>
            <a:endParaRPr lang="en-US" sz="1200" b="1" dirty="0">
              <a:latin typeface="Helvetica Neue"/>
            </a:endParaRPr>
          </a:p>
        </p:txBody>
      </p:sp>
      <p:sp>
        <p:nvSpPr>
          <p:cNvPr id="13" name="TextBox 12"/>
          <p:cNvSpPr txBox="1"/>
          <p:nvPr/>
        </p:nvSpPr>
        <p:spPr>
          <a:xfrm>
            <a:off x="1432216" y="9672935"/>
            <a:ext cx="13664910" cy="461665"/>
          </a:xfrm>
          <a:prstGeom prst="rect">
            <a:avLst/>
          </a:prstGeom>
          <a:noFill/>
        </p:spPr>
        <p:txBody>
          <a:bodyPr wrap="square" rtlCol="0">
            <a:spAutoFit/>
          </a:bodyPr>
          <a:lstStyle/>
          <a:p>
            <a:r>
              <a:rPr lang="en-US" sz="1600" dirty="0">
                <a:latin typeface="Helvetica Neue" charset="0"/>
                <a:ea typeface="Helvetica Neue" charset="0"/>
                <a:cs typeface="Helvetica Neue" charset="0"/>
              </a:rPr>
              <a:t>Download this canvas at: </a:t>
            </a:r>
            <a:r>
              <a:rPr lang="en-US" sz="1600" b="1" u="sng" dirty="0">
                <a:latin typeface="Helvetica Neue" charset="0"/>
                <a:ea typeface="Helvetica Neue" charset="0"/>
                <a:cs typeface="Helvetica Neue" charset="0"/>
              </a:rPr>
              <a:t>www.jeffgothelf.com/blog/leanuxcanvas-v2</a:t>
            </a:r>
            <a:r>
              <a:rPr lang="en-US" sz="1600" dirty="0">
                <a:latin typeface="Helvetica Neue" charset="0"/>
                <a:ea typeface="Helvetica Neue" charset="0"/>
                <a:cs typeface="Helvetica Neue" charset="0"/>
              </a:rPr>
              <a:t>  </a:t>
            </a:r>
            <a:r>
              <a:rPr lang="en-US" sz="2400" dirty="0">
                <a:solidFill>
                  <a:srgbClr val="FF0000"/>
                </a:solidFill>
                <a:latin typeface="Helvetica Neue" charset="0"/>
                <a:ea typeface="Helvetica Neue" charset="0"/>
                <a:cs typeface="Helvetica Neue" charset="0"/>
              </a:rPr>
              <a:t>	</a:t>
            </a:r>
          </a:p>
        </p:txBody>
      </p:sp>
      <p:pic>
        <p:nvPicPr>
          <p:cNvPr id="15" name="Picture 14"/>
          <p:cNvPicPr>
            <a:picLocks noChangeAspect="1"/>
          </p:cNvPicPr>
          <p:nvPr/>
        </p:nvPicPr>
        <p:blipFill>
          <a:blip r:embed="rId3"/>
          <a:stretch>
            <a:fillRect/>
          </a:stretch>
        </p:blipFill>
        <p:spPr>
          <a:xfrm>
            <a:off x="406690" y="9834274"/>
            <a:ext cx="1016000" cy="190500"/>
          </a:xfrm>
          <a:prstGeom prst="rect">
            <a:avLst/>
          </a:prstGeom>
        </p:spPr>
      </p:pic>
      <p:sp>
        <p:nvSpPr>
          <p:cNvPr id="10" name="Rectangle 9"/>
          <p:cNvSpPr/>
          <p:nvPr/>
        </p:nvSpPr>
        <p:spPr bwMode="auto">
          <a:xfrm>
            <a:off x="5867399" y="7010400"/>
            <a:ext cx="3809999" cy="2730500"/>
          </a:xfrm>
          <a:prstGeom prst="rect">
            <a:avLst/>
          </a:prstGeom>
          <a:noFill/>
          <a:ln w="38100" cap="flat" cmpd="sng" algn="ctr">
            <a:solidFill>
              <a:schemeClr val="tx1">
                <a:lumMod val="75000"/>
                <a:lumOff val="25000"/>
              </a:schemeClr>
            </a:solidFill>
            <a:prstDash val="solid"/>
            <a:round/>
            <a:headEnd type="none" w="med" len="med"/>
            <a:tailEnd type="none" w="med" len="med"/>
          </a:ln>
          <a:effectLst/>
        </p:spPr>
        <p:txBody>
          <a:bodyPr/>
          <a:lstStyle/>
          <a:p>
            <a:pPr>
              <a:defRPr/>
            </a:pPr>
            <a:r>
              <a:rPr lang="en-US" sz="2000" b="1" dirty="0">
                <a:latin typeface="Helvetica Neue"/>
                <a:cs typeface="Helvetica Neue"/>
              </a:rPr>
              <a:t>What’s the most important thing we need to learn first?</a:t>
            </a:r>
          </a:p>
          <a:p>
            <a:pPr marL="171450" indent="-171450" algn="just">
              <a:buFont typeface="Arial" panose="020B0604020202020204" pitchFamily="34" charset="0"/>
              <a:buChar char="•"/>
              <a:defRPr/>
            </a:pPr>
            <a:r>
              <a:rPr lang="en-US" sz="800" b="1" dirty="0">
                <a:latin typeface="Helvetica Neue"/>
                <a:cs typeface="Helvetica Neue"/>
              </a:rPr>
              <a:t>Documentation Trust Risk</a:t>
            </a:r>
          </a:p>
          <a:p>
            <a:pPr lvl="1" algn="just">
              <a:defRPr/>
            </a:pPr>
            <a:r>
              <a:rPr lang="en-US" sz="800" dirty="0">
                <a:latin typeface="Helvetica Neue"/>
                <a:cs typeface="Helvetica Neue"/>
              </a:rPr>
              <a:t>Will QA/QC specialists trust a centralized platform to manage regulated quality records and documentation required during inspections and audits?</a:t>
            </a:r>
            <a:endParaRPr lang="en-US" sz="700" dirty="0">
              <a:latin typeface="Helvetica Neue"/>
              <a:cs typeface="Helvetica Neue"/>
            </a:endParaRPr>
          </a:p>
          <a:p>
            <a:pPr marL="171450" indent="-171450" algn="just">
              <a:buFont typeface="Arial" panose="020B0604020202020204" pitchFamily="34" charset="0"/>
              <a:buChar char="•"/>
              <a:defRPr/>
            </a:pPr>
            <a:r>
              <a:rPr lang="en-US" sz="800" b="1" dirty="0">
                <a:latin typeface="Helvetica Neue"/>
                <a:cs typeface="Helvetica Neue"/>
              </a:rPr>
              <a:t>Audit Readiness Risk</a:t>
            </a:r>
          </a:p>
          <a:p>
            <a:pPr lvl="1" algn="just">
              <a:defRPr/>
            </a:pPr>
            <a:r>
              <a:rPr lang="en-US" sz="800" dirty="0">
                <a:latin typeface="Helvetica Neue"/>
                <a:cs typeface="Helvetica Neue"/>
              </a:rPr>
              <a:t>Will laboratories perceive sufficient value in automatically generated audit evidence and reports?</a:t>
            </a:r>
          </a:p>
          <a:p>
            <a:pPr marL="171450" indent="-171450" algn="just">
              <a:buFont typeface="Arial" panose="020B0604020202020204" pitchFamily="34" charset="0"/>
              <a:buChar char="•"/>
              <a:defRPr/>
            </a:pPr>
            <a:r>
              <a:rPr lang="en-US" sz="800" b="1" dirty="0">
                <a:latin typeface="Helvetica Neue"/>
                <a:cs typeface="Helvetica Neue"/>
              </a:rPr>
              <a:t>Traceability Value Risk</a:t>
            </a:r>
          </a:p>
          <a:p>
            <a:pPr lvl="1" algn="just">
              <a:defRPr/>
            </a:pPr>
            <a:r>
              <a:rPr lang="en-US" sz="800" dirty="0">
                <a:latin typeface="Helvetica Neue"/>
                <a:cs typeface="Helvetica Neue"/>
              </a:rPr>
              <a:t>Will QA/QC specialists and Production Supervisors obtain measurable benefits from centralized batch traceability?</a:t>
            </a:r>
          </a:p>
          <a:p>
            <a:pPr marL="171450" indent="-171450" algn="just">
              <a:buFont typeface="Arial" panose="020B0604020202020204" pitchFamily="34" charset="0"/>
              <a:buChar char="•"/>
              <a:defRPr/>
            </a:pPr>
            <a:r>
              <a:rPr lang="en-US" sz="800" b="1" dirty="0">
                <a:latin typeface="Helvetica Neue"/>
                <a:cs typeface="Helvetica Neue"/>
              </a:rPr>
              <a:t>Workflow Adoption Risk</a:t>
            </a:r>
          </a:p>
          <a:p>
            <a:pPr lvl="1" algn="just">
              <a:defRPr/>
            </a:pPr>
            <a:r>
              <a:rPr lang="en-US" sz="800" dirty="0">
                <a:latin typeface="Helvetica Neue"/>
                <a:cs typeface="Helvetica Neue"/>
              </a:rPr>
              <a:t>Will users replace paper- and spreadsheet-based processes with a digital quality-management platform?</a:t>
            </a:r>
          </a:p>
          <a:p>
            <a:pPr marL="171450" indent="-171450" algn="just">
              <a:buFont typeface="Arial" panose="020B0604020202020204" pitchFamily="34" charset="0"/>
              <a:buChar char="•"/>
              <a:defRPr/>
            </a:pPr>
            <a:r>
              <a:rPr lang="en-US" sz="800" b="1" dirty="0">
                <a:latin typeface="Helvetica Neue"/>
                <a:cs typeface="Helvetica Neue"/>
              </a:rPr>
              <a:t>IoT Integration Value Risk</a:t>
            </a:r>
          </a:p>
          <a:p>
            <a:pPr lvl="1" algn="just">
              <a:defRPr/>
            </a:pPr>
            <a:r>
              <a:rPr lang="en-US" sz="800" dirty="0">
                <a:latin typeface="Helvetica Neue"/>
                <a:cs typeface="Helvetica Neue"/>
              </a:rPr>
              <a:t>Will laboratories recognize the operational value of linking sensor-generated data to batch records and quality activities?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rgbClr val="80808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463675"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3175" cap="flat" cmpd="sng" algn="ctr">
          <a:solidFill>
            <a:srgbClr val="80808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463675"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219053</TotalTime>
  <Words>1514</Words>
  <Application>Microsoft Office PowerPoint</Application>
  <PresentationFormat>Personalizado</PresentationFormat>
  <Paragraphs>98</Paragraphs>
  <Slides>1</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Helvetica</vt:lpstr>
      <vt:lpstr>Helvetica Neue</vt:lpstr>
      <vt:lpstr>Wingdings</vt:lpstr>
      <vt:lpstr>Default Design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Jeff Patton</dc:creator>
  <cp:lastModifiedBy>yhocz</cp:lastModifiedBy>
  <cp:revision>426</cp:revision>
  <cp:lastPrinted>2019-08-22T15:15:29Z</cp:lastPrinted>
  <dcterms:created xsi:type="dcterms:W3CDTF">2010-11-16T23:41:59Z</dcterms:created>
  <dcterms:modified xsi:type="dcterms:W3CDTF">2026-10-08T06:50:33Z</dcterms:modified>
</cp:coreProperties>
</file>